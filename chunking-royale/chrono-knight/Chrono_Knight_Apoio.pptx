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19d1ebdf-7b56-13f6-8a9e-af7612629ac1}">
          <p14:sldIdLst>
            <p14:sldId id="256"/>
          </p14:sldIdLst>
        </p14:section>
        <p14:section name="Teoria" id="{13b6b67f-dcea-a9e5-7af2-916f5cbd2c66}">
          <p14:sldIdLst>
            <p14:sldId id="257"/>
            <p14:sldId id="258"/>
            <p14:sldId id="259"/>
          </p14:sldIdLst>
        </p14:section>
        <p14:section name="Blocos" id="{5da0e29a-77aa-7cfd-9d66-3ff4fb760575}">
          <p14:sldIdLst>
            <p14:sldId id="260"/>
            <p14:sldId id="261"/>
          </p14:sldIdLst>
        </p14:section>
        <p14:section name="Prática" id="{08380264-02a4-cb87-a5b6-3b01456f6419}">
          <p14:sldIdLst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Arena" id="{20d4d5f2-bfe6-ce67-e0ac-c32551ab66a9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a nova carta do deck: Chrono Knight. Ele domina o tempo e tem dois poderes — ver uma ação em andamento no futuro (fotografia) e ver uma ação já concluída antes de um prazo (linha de chegada). Custa 3 elixir: 3 acertos para colocá-lo na arena.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as três metas. Diga que no fim da aula eles vão jogar a Chrono Knight Arena: cada acerto gera elixir.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Fotografia: congela um momento e mostra a ação acontecendo. Linha de chegada: olha para trás a partir do prazo e vê a ação já terminada.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ponto AT 8: a ação atravessa o ponto, então está em andamento. No ponto BY 11, a ação já terminou antes — perfect.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cor é uma função: ADV rosa, S azul-marinho, AUX dourado, V verde-azulado, O coral. O AUX dourado é onde mora a diferença entre os dois tempos.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Regra prática: AT/THIS TIME pede continuous; BY/BY THE TIME pede perfect. E nunca misture: “will have be working” não existe.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que montem a frase antes de mostrar os blocos. Destaque o bloco-armadilha: “will be” é do outro tempo.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Dê 20 segundos. Os alunos levantam A, B, C ou 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C) will be having. No momento exato (at 8) a ação estará EM ANDAMENTO → Future Continuous.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Dê 20 segundos. Os alunos levantam A, B, C ou 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D) will have started. BY THE TIME → prazo final → Future Perfect: a ação já estará concluída.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erros clássicos. Escolha be + -ing OU have + particípio — nunca os dois.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cada frase e peça que a turma grite “fotografia” ou “linha de chegada” antes de dizer o verbo. As respostas estão à direita (pode cobri-las ou revelar uma por vez com animação).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Abra flashcards/index.html para revisão rápida e depois game/index.html para a batalha. Para casa: Desafio extra (13–20) e Missão final do material DOCX.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DARK_TITLE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371600"/>
            <a:ext cx="51206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2560320"/>
            <a:ext cx="51206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4" name="Text 0"/>
          <p:cNvSpPr/>
          <p:nvPr/>
        </p:nvSpPr>
        <p:spPr>
          <a:xfrm>
            <a:off x="457200" y="4754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3F2"/>
                </a:solidFill>
              </a:rPr>
              <a:t>Chunking Royale · Material autoral ODU · Professor Diego Horta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C"/>
                </a:solidFill>
              </a:rPr>
              <a:t>Chunking Royale · Material autoral ODU · Professor Diego Horta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rgbClr val="0B1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D6"/>
                </a:solidFill>
              </a:rPr>
              <a:t>Chunking Royale · Material autoral ODU · Professor Diego Horta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6D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9601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85A9B"/>
                </a:solidFill>
              </a:rPr>
              <a:t>CHUNKING ROYALE · NOVA CARTA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13716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Chrono Knight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457200" y="256032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Future Continuous × Future Perfect</a:t>
            </a:r>
            <a:endParaRPr lang="en-US" sz="20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9D3F2"/>
                </a:solidFill>
              </a:rPr>
              <a:t>Fonte: Unit 21 · Custo: 3 elixir</a:t>
            </a:r>
            <a:endParaRPr lang="en-US" sz="2000" dirty="0"/>
          </a:p>
        </p:txBody>
      </p:sp>
      <p:sp>
        <p:nvSpPr>
          <p:cNvPr id="5" name="glow"/>
          <p:cNvSpPr/>
          <p:nvPr/>
        </p:nvSpPr>
        <p:spPr>
          <a:xfrm>
            <a:off x="5806440" y="685800"/>
            <a:ext cx="3017520" cy="3017520"/>
          </a:xfrm>
          <a:prstGeom prst="ellipse">
            <a:avLst/>
          </a:prstGeom>
          <a:solidFill>
            <a:srgbClr val="4FE3FF">
              <a:alpha val="20000"/>
            </a:srgbClr>
          </a:solidFill>
          <a:ln w="25400">
            <a:solidFill>
              <a:srgbClr val="4FE3FF"/>
            </a:solidFill>
            <a:prstDash val="solid"/>
          </a:ln>
        </p:spPr>
      </p:sp>
      <p:pic>
        <p:nvPicPr>
          <p:cNvPr id="6" name="chrono-knight" descr="/home/user/docs/chunking-royale/chrono-knight/assets/chrono-kn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777240"/>
            <a:ext cx="2651760" cy="29809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Missão de hoje</a:t>
            </a:r>
            <a:endParaRPr lang="en-US" sz="3200" dirty="0"/>
          </a:p>
        </p:txBody>
      </p:sp>
      <p:sp>
        <p:nvSpPr>
          <p:cNvPr id="3" name="step-1"/>
          <p:cNvSpPr/>
          <p:nvPr/>
        </p:nvSpPr>
        <p:spPr>
          <a:xfrm>
            <a:off x="548640" y="1307592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step-num-1"/>
          <p:cNvSpPr txBox="1"/>
          <p:nvPr/>
        </p:nvSpPr>
        <p:spPr>
          <a:xfrm>
            <a:off x="548640" y="130759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1</a:t>
            </a:r>
            <a:endParaRPr lang="en-US" sz="2600" dirty="0"/>
          </a:p>
        </p:txBody>
      </p:sp>
      <p:sp>
        <p:nvSpPr>
          <p:cNvPr id="5" name="step-text-1"/>
          <p:cNvSpPr txBox="1"/>
          <p:nvPr/>
        </p:nvSpPr>
        <p:spPr>
          <a:xfrm>
            <a:off x="1463040" y="12344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Fotografia ou linha de chegada?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4A5170"/>
                </a:solidFill>
              </a:rPr>
              <a:t>Decidir se a ação futura estará EM ANDAMENTO ou JÁ CONCLUÍDA.</a:t>
            </a:r>
            <a:endParaRPr lang="en-US" sz="2000" dirty="0"/>
          </a:p>
        </p:txBody>
      </p:sp>
      <p:sp>
        <p:nvSpPr>
          <p:cNvPr id="6" name="step-2"/>
          <p:cNvSpPr/>
          <p:nvPr/>
        </p:nvSpPr>
        <p:spPr>
          <a:xfrm>
            <a:off x="548640" y="2404872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step-num-2"/>
          <p:cNvSpPr txBox="1"/>
          <p:nvPr/>
        </p:nvSpPr>
        <p:spPr>
          <a:xfrm>
            <a:off x="548640" y="240487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2</a:t>
            </a:r>
            <a:endParaRPr lang="en-US" sz="2600" dirty="0"/>
          </a:p>
        </p:txBody>
      </p:sp>
      <p:sp>
        <p:nvSpPr>
          <p:cNvPr id="8" name="step-text-2"/>
          <p:cNvSpPr txBox="1"/>
          <p:nvPr/>
        </p:nvSpPr>
        <p:spPr>
          <a:xfrm>
            <a:off x="1463040" y="23317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Montar com blocos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4A5170"/>
                </a:solidFill>
              </a:rPr>
              <a:t>Encaixar ADV · S · AUX · V · O sem cair no bloco-armadilha.</a:t>
            </a:r>
            <a:endParaRPr lang="en-US" sz="2000" dirty="0"/>
          </a:p>
        </p:txBody>
      </p:sp>
      <p:sp>
        <p:nvSpPr>
          <p:cNvPr id="9" name="step-3"/>
          <p:cNvSpPr/>
          <p:nvPr/>
        </p:nvSpPr>
        <p:spPr>
          <a:xfrm>
            <a:off x="548640" y="3502152"/>
            <a:ext cx="685800" cy="6858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step-num-3"/>
          <p:cNvSpPr txBox="1"/>
          <p:nvPr/>
        </p:nvSpPr>
        <p:spPr>
          <a:xfrm>
            <a:off x="548640" y="350215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3</a:t>
            </a:r>
            <a:endParaRPr lang="en-US" sz="2600" dirty="0"/>
          </a:p>
        </p:txBody>
      </p:sp>
      <p:sp>
        <p:nvSpPr>
          <p:cNvPr id="11" name="step-text-3"/>
          <p:cNvSpPr txBox="1"/>
          <p:nvPr/>
        </p:nvSpPr>
        <p:spPr>
          <a:xfrm>
            <a:off x="1463040" y="342900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Corrigir os erros clássicos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4A5170"/>
                </a:solidFill>
              </a:rPr>
              <a:t>O BE que some, o particípio esquecido, a mistura dos tempos.</a:t>
            </a:r>
            <a:endParaRPr lang="en-US" sz="2000" dirty="0"/>
          </a:p>
        </p:txBody>
      </p:sp>
      <p:pic>
        <p:nvPicPr>
          <p:cNvPr id="12" name="chrono-knight" descr="/home/user/docs/chunking-royale/chrono-knight/assets/chrono-kn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188720"/>
            <a:ext cx="2103120" cy="2368296"/>
          </a:xfrm>
          <a:prstGeom prst="rect">
            <a:avLst/>
          </a:prstGeom>
        </p:spPr>
      </p:pic>
      <p:sp>
        <p:nvSpPr>
          <p:cNvPr id="13" name="tagline"/>
          <p:cNvSpPr txBox="1"/>
          <p:nvPr/>
        </p:nvSpPr>
        <p:spPr>
          <a:xfrm>
            <a:off x="6309360" y="3703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3 acertos = 3 elixir = 1 Chrono Knight na arena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Os dois poderes do Chrono Knight</a:t>
            </a:r>
            <a:endParaRPr lang="en-US" sz="3200" dirty="0"/>
          </a:p>
        </p:txBody>
      </p:sp>
      <p:sp>
        <p:nvSpPr>
          <p:cNvPr id="3" name="card-Future Continuous"/>
          <p:cNvSpPr/>
          <p:nvPr/>
        </p:nvSpPr>
        <p:spPr>
          <a:xfrm>
            <a:off x="457200" y="1188720"/>
            <a:ext cx="3931920" cy="2834640"/>
          </a:xfrm>
          <a:prstGeom prst="roundRect">
            <a:avLst>
              <a:gd name="adj" fmla="val 3871"/>
            </a:avLst>
          </a:prstGeom>
          <a:solidFill>
            <a:srgbClr val="F4F6FC"/>
          </a:solidFill>
          <a:ln w="12700">
            <a:solidFill>
              <a:srgbClr val="DDE3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4" name="card-head-Future Continuous"/>
          <p:cNvSpPr/>
          <p:nvPr/>
        </p:nvSpPr>
        <p:spPr>
          <a:xfrm>
            <a:off x="685800" y="1371600"/>
            <a:ext cx="3474720" cy="868680"/>
          </a:xfrm>
          <a:prstGeom prst="roundRect">
            <a:avLst>
              <a:gd name="adj" fmla="val 10526"/>
            </a:avLst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</p:sp>
      <p:sp>
        <p:nvSpPr>
          <p:cNvPr id="5" name="card-head-text-Future Continuous"/>
          <p:cNvSpPr txBox="1"/>
          <p:nvPr/>
        </p:nvSpPr>
        <p:spPr>
          <a:xfrm>
            <a:off x="822960" y="13716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📸  Future Continuous</a:t>
            </a:r>
            <a:endParaRPr lang="en-US" sz="22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will be + verbo-ing</a:t>
            </a:r>
            <a:endParaRPr lang="en-US" sz="2200" dirty="0"/>
          </a:p>
        </p:txBody>
      </p:sp>
      <p:sp>
        <p:nvSpPr>
          <p:cNvPr id="6" name="card-body-Future Continuous"/>
          <p:cNvSpPr txBox="1"/>
          <p:nvPr/>
        </p:nvSpPr>
        <p:spPr>
          <a:xfrm>
            <a:off x="731520" y="237744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Uso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rgbClr val="4A5170"/>
                </a:solidFill>
              </a:rPr>
              <a:t>Ação EM ANDAMENTO num momento exato do futuro — uma fotografia.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Exemplo</a:t>
            </a:r>
            <a:endParaRPr lang="en-US" sz="1400" dirty="0"/>
          </a:p>
          <a:p>
            <a:pPr indent="0" marL="0">
              <a:buNone/>
            </a:pPr>
            <a:r>
              <a:rPr lang="en-US" sz="1800" b="1" i="1" dirty="0">
                <a:solidFill>
                  <a:srgbClr val="2E8B8B"/>
                </a:solidFill>
              </a:rPr>
              <a:t>“At 9 tomorrow I will be working.”</a:t>
            </a:r>
            <a:endParaRPr lang="en-US" sz="1400" dirty="0"/>
          </a:p>
        </p:txBody>
      </p:sp>
      <p:sp>
        <p:nvSpPr>
          <p:cNvPr id="7" name="card-Future Perfect"/>
          <p:cNvSpPr/>
          <p:nvPr/>
        </p:nvSpPr>
        <p:spPr>
          <a:xfrm>
            <a:off x="4754880" y="1188720"/>
            <a:ext cx="3931920" cy="2834640"/>
          </a:xfrm>
          <a:prstGeom prst="roundRect">
            <a:avLst>
              <a:gd name="adj" fmla="val 3871"/>
            </a:avLst>
          </a:prstGeom>
          <a:solidFill>
            <a:srgbClr val="F4F6FC"/>
          </a:solidFill>
          <a:ln w="12700">
            <a:solidFill>
              <a:srgbClr val="DDE3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card-head-Future Perfect"/>
          <p:cNvSpPr/>
          <p:nvPr/>
        </p:nvSpPr>
        <p:spPr>
          <a:xfrm>
            <a:off x="4983480" y="1371600"/>
            <a:ext cx="3474720" cy="868680"/>
          </a:xfrm>
          <a:prstGeom prst="roundRect">
            <a:avLst>
              <a:gd name="adj" fmla="val 10526"/>
            </a:avLst>
          </a:prstGeom>
          <a:solidFill>
            <a:srgbClr val="2E5FD0"/>
          </a:solidFill>
          <a:ln w="12700">
            <a:solidFill>
              <a:srgbClr val="2E5FD0"/>
            </a:solidFill>
            <a:prstDash val="solid"/>
          </a:ln>
        </p:spPr>
      </p:sp>
      <p:sp>
        <p:nvSpPr>
          <p:cNvPr id="9" name="card-head-text-Future Perfect"/>
          <p:cNvSpPr txBox="1"/>
          <p:nvPr/>
        </p:nvSpPr>
        <p:spPr>
          <a:xfrm>
            <a:off x="5120640" y="13716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🏁  Future Perfect</a:t>
            </a:r>
            <a:endParaRPr lang="en-US" sz="22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will have + particípio</a:t>
            </a:r>
            <a:endParaRPr lang="en-US" sz="2200" dirty="0"/>
          </a:p>
        </p:txBody>
      </p:sp>
      <p:sp>
        <p:nvSpPr>
          <p:cNvPr id="10" name="card-body-Future Perfect"/>
          <p:cNvSpPr txBox="1"/>
          <p:nvPr/>
        </p:nvSpPr>
        <p:spPr>
          <a:xfrm>
            <a:off x="5029200" y="237744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Uso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rgbClr val="4A5170"/>
                </a:solidFill>
              </a:rPr>
              <a:t>Ação JÁ CONCLUÍDA antes de um prazo futuro — a linha de chegada.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Exemplo</a:t>
            </a:r>
            <a:endParaRPr lang="en-US" sz="1400" dirty="0"/>
          </a:p>
          <a:p>
            <a:pPr indent="0" marL="0">
              <a:buNone/>
            </a:pPr>
            <a:r>
              <a:rPr lang="en-US" sz="1800" b="1" i="1" dirty="0">
                <a:solidFill>
                  <a:srgbClr val="2E5FD0"/>
                </a:solidFill>
              </a:rPr>
              <a:t>“By June we will have finished the course.”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Na linha do tempo</a:t>
            </a:r>
            <a:endParaRPr lang="en-US" sz="3200" dirty="0"/>
          </a:p>
        </p:txBody>
      </p:sp>
      <p:sp>
        <p:nvSpPr>
          <p:cNvPr id="3" name="timeline"/>
          <p:cNvSpPr/>
          <p:nvPr/>
        </p:nvSpPr>
        <p:spPr>
          <a:xfrm>
            <a:off x="640080" y="2743200"/>
            <a:ext cx="7863840" cy="0"/>
          </a:xfrm>
          <a:prstGeom prst="line">
            <a:avLst/>
          </a:prstGeom>
          <a:noFill/>
          <a:ln w="38100">
            <a:solidFill>
              <a:srgbClr val="C9D3F2"/>
            </a:solidFill>
            <a:prstDash val="solid"/>
            <a:tailEnd type="triangle"/>
          </a:ln>
        </p:spPr>
      </p:sp>
      <p:sp>
        <p:nvSpPr>
          <p:cNvPr id="4" name="now-dot"/>
          <p:cNvSpPr/>
          <p:nvPr/>
        </p:nvSpPr>
        <p:spPr>
          <a:xfrm>
            <a:off x="777240" y="26060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now-label"/>
          <p:cNvSpPr txBox="1"/>
          <p:nvPr/>
        </p:nvSpPr>
        <p:spPr>
          <a:xfrm>
            <a:off x="457200" y="2971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AGORA</a:t>
            </a:r>
            <a:endParaRPr lang="en-US" sz="1300" dirty="0"/>
          </a:p>
        </p:txBody>
      </p:sp>
      <p:sp>
        <p:nvSpPr>
          <p:cNvPr id="6" name="cont-bar"/>
          <p:cNvSpPr/>
          <p:nvPr/>
        </p:nvSpPr>
        <p:spPr>
          <a:xfrm>
            <a:off x="2377440" y="2468880"/>
            <a:ext cx="2560320" cy="548640"/>
          </a:xfrm>
          <a:prstGeom prst="roundRect">
            <a:avLst>
              <a:gd name="adj" fmla="val 16667"/>
            </a:avLst>
          </a:prstGeom>
          <a:solidFill>
            <a:srgbClr val="2E8B8B"/>
          </a:solidFill>
          <a:ln w="25400">
            <a:solidFill>
              <a:srgbClr val="4FE3FF"/>
            </a:solidFill>
            <a:prstDash val="solid"/>
          </a:ln>
        </p:spPr>
      </p:sp>
      <p:sp>
        <p:nvSpPr>
          <p:cNvPr id="7" name="cont-bar-text"/>
          <p:cNvSpPr txBox="1"/>
          <p:nvPr/>
        </p:nvSpPr>
        <p:spPr>
          <a:xfrm>
            <a:off x="2377440" y="24688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dinner…</a:t>
            </a:r>
            <a:endParaRPr lang="en-US" sz="1600" dirty="0"/>
          </a:p>
        </p:txBody>
      </p:sp>
      <p:sp>
        <p:nvSpPr>
          <p:cNvPr id="8" name="at8-line"/>
          <p:cNvSpPr/>
          <p:nvPr/>
        </p:nvSpPr>
        <p:spPr>
          <a:xfrm>
            <a:off x="3657600" y="1417320"/>
            <a:ext cx="0" cy="2103120"/>
          </a:xfrm>
          <a:prstGeom prst="line">
            <a:avLst/>
          </a:prstGeom>
          <a:noFill/>
          <a:ln w="25400">
            <a:solidFill>
              <a:srgbClr val="4FE3FF"/>
            </a:solidFill>
            <a:prstDash val="dash"/>
          </a:ln>
        </p:spPr>
      </p:sp>
      <p:sp>
        <p:nvSpPr>
          <p:cNvPr id="9" name="at8-label"/>
          <p:cNvSpPr txBox="1"/>
          <p:nvPr/>
        </p:nvSpPr>
        <p:spPr>
          <a:xfrm>
            <a:off x="2834640" y="1097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E3FF"/>
                </a:solidFill>
              </a:rPr>
              <a:t>📸 AT 8</a:t>
            </a:r>
            <a:endParaRPr lang="en-US" sz="1600" dirty="0"/>
          </a:p>
        </p:txBody>
      </p:sp>
      <p:sp>
        <p:nvSpPr>
          <p:cNvPr id="10" name="cont-ex"/>
          <p:cNvSpPr txBox="1"/>
          <p:nvPr/>
        </p:nvSpPr>
        <p:spPr>
          <a:xfrm>
            <a:off x="1737360" y="3611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</a:rPr>
              <a:t>“At 8 we will be having dinner.”</a:t>
            </a:r>
            <a:endParaRPr lang="en-US" sz="1500" dirty="0"/>
          </a:p>
        </p:txBody>
      </p:sp>
      <p:sp>
        <p:nvSpPr>
          <p:cNvPr id="11" name="perf-bar"/>
          <p:cNvSpPr/>
          <p:nvPr/>
        </p:nvSpPr>
        <p:spPr>
          <a:xfrm>
            <a:off x="5394960" y="2468880"/>
            <a:ext cx="1463040" cy="548640"/>
          </a:xfrm>
          <a:prstGeom prst="roundRect">
            <a:avLst>
              <a:gd name="adj" fmla="val 16667"/>
            </a:avLst>
          </a:prstGeom>
          <a:solidFill>
            <a:srgbClr val="2E5FD0"/>
          </a:solidFill>
          <a:ln w="12700">
            <a:solidFill>
              <a:srgbClr val="2E5FD0"/>
            </a:solidFill>
            <a:prstDash val="solid"/>
          </a:ln>
        </p:spPr>
      </p:sp>
      <p:sp>
        <p:nvSpPr>
          <p:cNvPr id="12" name="perf-bar-text"/>
          <p:cNvSpPr txBox="1"/>
          <p:nvPr/>
        </p:nvSpPr>
        <p:spPr>
          <a:xfrm>
            <a:off x="5394960" y="2468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cake ✓</a:t>
            </a:r>
            <a:endParaRPr lang="en-US" sz="1600" dirty="0"/>
          </a:p>
        </p:txBody>
      </p:sp>
      <p:sp>
        <p:nvSpPr>
          <p:cNvPr id="13" name="by11-line"/>
          <p:cNvSpPr/>
          <p:nvPr/>
        </p:nvSpPr>
        <p:spPr>
          <a:xfrm>
            <a:off x="7406640" y="1417320"/>
            <a:ext cx="0" cy="2103120"/>
          </a:xfrm>
          <a:prstGeom prst="line">
            <a:avLst/>
          </a:prstGeom>
          <a:noFill/>
          <a:ln w="25400">
            <a:solidFill>
              <a:srgbClr val="E0A92E"/>
            </a:solidFill>
            <a:prstDash val="dash"/>
          </a:ln>
        </p:spPr>
      </p:sp>
      <p:sp>
        <p:nvSpPr>
          <p:cNvPr id="14" name="by11-label"/>
          <p:cNvSpPr txBox="1"/>
          <p:nvPr/>
        </p:nvSpPr>
        <p:spPr>
          <a:xfrm>
            <a:off x="6583680" y="1097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A92E"/>
                </a:solidFill>
              </a:rPr>
              <a:t>🏁 BY 11</a:t>
            </a:r>
            <a:endParaRPr lang="en-US" sz="1600" dirty="0"/>
          </a:p>
        </p:txBody>
      </p:sp>
      <p:sp>
        <p:nvSpPr>
          <p:cNvPr id="15" name="perf-ex"/>
          <p:cNvSpPr txBox="1"/>
          <p:nvPr/>
        </p:nvSpPr>
        <p:spPr>
          <a:xfrm>
            <a:off x="5120640" y="3611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</a:rPr>
              <a:t>“By 11 they will have eaten the cake.”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6D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As fórmulas em blocos</a:t>
            </a:r>
            <a:endParaRPr lang="en-US" sz="3200" dirty="0"/>
          </a:p>
        </p:txBody>
      </p:sp>
      <p:sp>
        <p:nvSpPr>
          <p:cNvPr id="3" name="kicker"/>
          <p:cNvSpPr txBox="1"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8B8B"/>
                </a:solidFill>
              </a:rPr>
              <a:t>FUTURE CONTINUOUS · FOTOGRAFIA</a:t>
            </a:r>
            <a:endParaRPr lang="en-US" sz="1200" dirty="0"/>
          </a:p>
        </p:txBody>
      </p:sp>
      <p:sp>
        <p:nvSpPr>
          <p:cNvPr id="4" name="block-ADV-0"/>
          <p:cNvSpPr/>
          <p:nvPr/>
        </p:nvSpPr>
        <p:spPr>
          <a:xfrm>
            <a:off x="457200" y="1417320"/>
            <a:ext cx="3000933" cy="731520"/>
          </a:xfrm>
          <a:prstGeom prst="roundRect">
            <a:avLst>
              <a:gd name="adj" fmla="val 10000"/>
            </a:avLst>
          </a:prstGeom>
          <a:solidFill>
            <a:srgbClr val="C8476B"/>
          </a:solidFill>
          <a:ln w="12700">
            <a:solidFill>
              <a:srgbClr val="C8476B"/>
            </a:solidFill>
            <a:prstDash val="solid"/>
          </a:ln>
        </p:spPr>
      </p:sp>
      <p:sp>
        <p:nvSpPr>
          <p:cNvPr id="5" name="block-text-0"/>
          <p:cNvSpPr txBox="1"/>
          <p:nvPr/>
        </p:nvSpPr>
        <p:spPr>
          <a:xfrm>
            <a:off x="457200" y="1417320"/>
            <a:ext cx="3000933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ADV</a:t>
            </a:r>
            <a:endParaRPr lang="en-US" sz="10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at 9 tomorrow</a:t>
            </a:r>
            <a:endParaRPr lang="en-US" sz="1000" dirty="0"/>
          </a:p>
        </p:txBody>
      </p:sp>
      <p:sp>
        <p:nvSpPr>
          <p:cNvPr id="6" name="block-S-1"/>
          <p:cNvSpPr/>
          <p:nvPr/>
        </p:nvSpPr>
        <p:spPr>
          <a:xfrm>
            <a:off x="3512997" y="1417320"/>
            <a:ext cx="1312908" cy="731520"/>
          </a:xfrm>
          <a:prstGeom prst="roundRect">
            <a:avLst>
              <a:gd name="adj" fmla="val 10000"/>
            </a:avLst>
          </a:prstGeom>
          <a:solidFill>
            <a:srgbClr val="1E2A5E"/>
          </a:solidFill>
          <a:ln w="12700">
            <a:solidFill>
              <a:srgbClr val="1E2A5E"/>
            </a:solidFill>
            <a:prstDash val="solid"/>
          </a:ln>
        </p:spPr>
      </p:sp>
      <p:sp>
        <p:nvSpPr>
          <p:cNvPr id="7" name="block-text-1"/>
          <p:cNvSpPr txBox="1"/>
          <p:nvPr/>
        </p:nvSpPr>
        <p:spPr>
          <a:xfrm>
            <a:off x="3512997" y="1417320"/>
            <a:ext cx="1312908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</a:t>
            </a:r>
            <a:endParaRPr lang="en-US" sz="10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</a:t>
            </a:r>
            <a:endParaRPr lang="en-US" sz="1000" dirty="0"/>
          </a:p>
        </p:txBody>
      </p:sp>
      <p:sp>
        <p:nvSpPr>
          <p:cNvPr id="8" name="block-AUX-2"/>
          <p:cNvSpPr/>
          <p:nvPr/>
        </p:nvSpPr>
        <p:spPr>
          <a:xfrm>
            <a:off x="4880769" y="1417320"/>
            <a:ext cx="1875583" cy="731520"/>
          </a:xfrm>
          <a:prstGeom prst="roundRect">
            <a:avLst>
              <a:gd name="adj" fmla="val 10000"/>
            </a:avLst>
          </a:prstGeom>
          <a:solidFill>
            <a:srgbClr val="D4A83A"/>
          </a:solidFill>
          <a:ln w="12700">
            <a:solidFill>
              <a:srgbClr val="D4A83A"/>
            </a:solidFill>
            <a:prstDash val="solid"/>
          </a:ln>
        </p:spPr>
      </p:sp>
      <p:sp>
        <p:nvSpPr>
          <p:cNvPr id="9" name="block-text-2"/>
          <p:cNvSpPr txBox="1"/>
          <p:nvPr/>
        </p:nvSpPr>
        <p:spPr>
          <a:xfrm>
            <a:off x="4880769" y="1417320"/>
            <a:ext cx="1875583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AUX</a:t>
            </a:r>
            <a:endParaRPr lang="en-US" sz="10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will be</a:t>
            </a:r>
            <a:endParaRPr lang="en-US" sz="1000" dirty="0"/>
          </a:p>
        </p:txBody>
      </p:sp>
      <p:sp>
        <p:nvSpPr>
          <p:cNvPr id="10" name="block-V-3"/>
          <p:cNvSpPr/>
          <p:nvPr/>
        </p:nvSpPr>
        <p:spPr>
          <a:xfrm>
            <a:off x="6811217" y="1417320"/>
            <a:ext cx="1875583" cy="731520"/>
          </a:xfrm>
          <a:prstGeom prst="roundRect">
            <a:avLst>
              <a:gd name="adj" fmla="val 10000"/>
            </a:avLst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</p:sp>
      <p:sp>
        <p:nvSpPr>
          <p:cNvPr id="11" name="block-text-3"/>
          <p:cNvSpPr txBox="1"/>
          <p:nvPr/>
        </p:nvSpPr>
        <p:spPr>
          <a:xfrm>
            <a:off x="6811217" y="1417320"/>
            <a:ext cx="1875583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</a:t>
            </a:r>
            <a:endParaRPr lang="en-US" sz="10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working</a:t>
            </a:r>
            <a:endParaRPr lang="en-US" sz="1000" dirty="0"/>
          </a:p>
        </p:txBody>
      </p:sp>
      <p:sp>
        <p:nvSpPr>
          <p:cNvPr id="12" name="kicker"/>
          <p:cNvSpPr txBox="1"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5FD0"/>
                </a:solidFill>
              </a:rPr>
              <a:t>FUTURE PERFECT · LINHA DE CHEGADA</a:t>
            </a:r>
            <a:endParaRPr lang="en-US" sz="1200" dirty="0"/>
          </a:p>
        </p:txBody>
      </p:sp>
      <p:sp>
        <p:nvSpPr>
          <p:cNvPr id="13" name="block-ADV-0"/>
          <p:cNvSpPr/>
          <p:nvPr/>
        </p:nvSpPr>
        <p:spPr>
          <a:xfrm>
            <a:off x="457200" y="2697480"/>
            <a:ext cx="1511348" cy="731520"/>
          </a:xfrm>
          <a:prstGeom prst="roundRect">
            <a:avLst>
              <a:gd name="adj" fmla="val 10000"/>
            </a:avLst>
          </a:prstGeom>
          <a:solidFill>
            <a:srgbClr val="C8476B"/>
          </a:solidFill>
          <a:ln w="12700">
            <a:solidFill>
              <a:srgbClr val="C8476B"/>
            </a:solidFill>
            <a:prstDash val="solid"/>
          </a:ln>
        </p:spPr>
      </p:sp>
      <p:sp>
        <p:nvSpPr>
          <p:cNvPr id="14" name="block-text-0"/>
          <p:cNvSpPr txBox="1"/>
          <p:nvPr/>
        </p:nvSpPr>
        <p:spPr>
          <a:xfrm>
            <a:off x="457200" y="2697480"/>
            <a:ext cx="1511348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ADV</a:t>
            </a:r>
            <a:endParaRPr lang="en-US" sz="10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by June</a:t>
            </a:r>
            <a:endParaRPr lang="en-US" sz="1000" dirty="0"/>
          </a:p>
        </p:txBody>
      </p:sp>
      <p:sp>
        <p:nvSpPr>
          <p:cNvPr id="15" name="block-S-1"/>
          <p:cNvSpPr/>
          <p:nvPr/>
        </p:nvSpPr>
        <p:spPr>
          <a:xfrm>
            <a:off x="2023412" y="2697480"/>
            <a:ext cx="1057944" cy="731520"/>
          </a:xfrm>
          <a:prstGeom prst="roundRect">
            <a:avLst>
              <a:gd name="adj" fmla="val 10000"/>
            </a:avLst>
          </a:prstGeom>
          <a:solidFill>
            <a:srgbClr val="1E2A5E"/>
          </a:solidFill>
          <a:ln w="12700">
            <a:solidFill>
              <a:srgbClr val="1E2A5E"/>
            </a:solidFill>
            <a:prstDash val="solid"/>
          </a:ln>
        </p:spPr>
      </p:sp>
      <p:sp>
        <p:nvSpPr>
          <p:cNvPr id="16" name="block-text-1"/>
          <p:cNvSpPr txBox="1"/>
          <p:nvPr/>
        </p:nvSpPr>
        <p:spPr>
          <a:xfrm>
            <a:off x="2023412" y="2697480"/>
            <a:ext cx="1057944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</a:t>
            </a:r>
            <a:endParaRPr lang="en-US" sz="10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we</a:t>
            </a:r>
            <a:endParaRPr lang="en-US" sz="1000" dirty="0"/>
          </a:p>
        </p:txBody>
      </p:sp>
      <p:sp>
        <p:nvSpPr>
          <p:cNvPr id="17" name="block-AUX-2"/>
          <p:cNvSpPr/>
          <p:nvPr/>
        </p:nvSpPr>
        <p:spPr>
          <a:xfrm>
            <a:off x="3136219" y="2697480"/>
            <a:ext cx="1813618" cy="731520"/>
          </a:xfrm>
          <a:prstGeom prst="roundRect">
            <a:avLst>
              <a:gd name="adj" fmla="val 10000"/>
            </a:avLst>
          </a:prstGeom>
          <a:solidFill>
            <a:srgbClr val="D4A83A"/>
          </a:solidFill>
          <a:ln w="12700">
            <a:solidFill>
              <a:srgbClr val="D4A83A"/>
            </a:solidFill>
            <a:prstDash val="solid"/>
          </a:ln>
        </p:spPr>
      </p:sp>
      <p:sp>
        <p:nvSpPr>
          <p:cNvPr id="18" name="block-text-2"/>
          <p:cNvSpPr txBox="1"/>
          <p:nvPr/>
        </p:nvSpPr>
        <p:spPr>
          <a:xfrm>
            <a:off x="3136219" y="2697480"/>
            <a:ext cx="1813618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AUX</a:t>
            </a:r>
            <a:endParaRPr lang="en-US" sz="10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will have</a:t>
            </a:r>
            <a:endParaRPr lang="en-US" sz="1000" dirty="0"/>
          </a:p>
        </p:txBody>
      </p:sp>
      <p:sp>
        <p:nvSpPr>
          <p:cNvPr id="19" name="block-V-3"/>
          <p:cNvSpPr/>
          <p:nvPr/>
        </p:nvSpPr>
        <p:spPr>
          <a:xfrm>
            <a:off x="5004701" y="2697480"/>
            <a:ext cx="1662483" cy="731520"/>
          </a:xfrm>
          <a:prstGeom prst="roundRect">
            <a:avLst>
              <a:gd name="adj" fmla="val 10000"/>
            </a:avLst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</p:sp>
      <p:sp>
        <p:nvSpPr>
          <p:cNvPr id="20" name="block-text-3"/>
          <p:cNvSpPr txBox="1"/>
          <p:nvPr/>
        </p:nvSpPr>
        <p:spPr>
          <a:xfrm>
            <a:off x="5004701" y="2697480"/>
            <a:ext cx="1662483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</a:t>
            </a:r>
            <a:endParaRPr lang="en-US" sz="10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finished</a:t>
            </a:r>
            <a:endParaRPr lang="en-US" sz="1000" dirty="0"/>
          </a:p>
        </p:txBody>
      </p:sp>
      <p:sp>
        <p:nvSpPr>
          <p:cNvPr id="21" name="block-O-4"/>
          <p:cNvSpPr/>
          <p:nvPr/>
        </p:nvSpPr>
        <p:spPr>
          <a:xfrm>
            <a:off x="6722048" y="2697480"/>
            <a:ext cx="1964752" cy="731520"/>
          </a:xfrm>
          <a:prstGeom prst="roundRect">
            <a:avLst>
              <a:gd name="adj" fmla="val 10000"/>
            </a:avLst>
          </a:prstGeom>
          <a:solidFill>
            <a:srgbClr val="E8735A"/>
          </a:solidFill>
          <a:ln w="12700">
            <a:solidFill>
              <a:srgbClr val="E8735A"/>
            </a:solidFill>
            <a:prstDash val="solid"/>
          </a:ln>
        </p:spPr>
      </p:sp>
      <p:sp>
        <p:nvSpPr>
          <p:cNvPr id="22" name="block-text-4"/>
          <p:cNvSpPr txBox="1"/>
          <p:nvPr/>
        </p:nvSpPr>
        <p:spPr>
          <a:xfrm>
            <a:off x="6722048" y="2697480"/>
            <a:ext cx="1964752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</a:t>
            </a:r>
            <a:endParaRPr lang="en-US" sz="10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the course</a:t>
            </a:r>
            <a:endParaRPr lang="en-US" sz="1000" dirty="0"/>
          </a:p>
        </p:txBody>
      </p:sp>
      <p:sp>
        <p:nvSpPr>
          <p:cNvPr id="23" name="neg-q"/>
          <p:cNvSpPr txBox="1"/>
          <p:nvPr/>
        </p:nvSpPr>
        <p:spPr>
          <a:xfrm>
            <a:off x="457200" y="3703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Negativa  </a:t>
            </a:r>
            <a:pPr indent="0" marL="0">
              <a:buNone/>
            </a:pPr>
            <a:r>
              <a:rPr lang="en-US" sz="1500" dirty="0">
                <a:solidFill>
                  <a:srgbClr val="4A5170"/>
                </a:solidFill>
              </a:rPr>
              <a:t>won't be + -ing  ·  won't have + particípio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Pergunta  </a:t>
            </a:r>
            <a:pPr indent="0" marL="0">
              <a:buNone/>
            </a:pPr>
            <a:r>
              <a:rPr lang="en-US" sz="1500" dirty="0">
                <a:solidFill>
                  <a:srgbClr val="4A5170"/>
                </a:solidFill>
              </a:rPr>
              <a:t>Will + S + be + -ing?  ·  Will + S + have + particípio?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Truque ODU: olhe o sinal</a:t>
            </a:r>
            <a:endParaRPr lang="en-US" sz="3200" dirty="0"/>
          </a:p>
        </p:txBody>
      </p:sp>
      <p:sp>
        <p:nvSpPr>
          <p:cNvPr id="3" name="trick-AT · THIS TIME"/>
          <p:cNvSpPr/>
          <p:nvPr/>
        </p:nvSpPr>
        <p:spPr>
          <a:xfrm>
            <a:off x="457200" y="1234440"/>
            <a:ext cx="3931920" cy="3200400"/>
          </a:xfrm>
          <a:prstGeom prst="roundRect">
            <a:avLst>
              <a:gd name="adj" fmla="val 3429"/>
            </a:avLst>
          </a:prstGeom>
          <a:solidFill>
            <a:srgbClr val="17225C"/>
          </a:solidFill>
          <a:ln w="25400">
            <a:solidFill>
              <a:srgbClr val="4FE3FF"/>
            </a:solidFill>
            <a:prstDash val="solid"/>
          </a:ln>
        </p:spPr>
      </p:sp>
      <p:sp>
        <p:nvSpPr>
          <p:cNvPr id="4" name="trick-big-AT · THIS TIME"/>
          <p:cNvSpPr txBox="1"/>
          <p:nvPr/>
        </p:nvSpPr>
        <p:spPr>
          <a:xfrm>
            <a:off x="731520" y="14173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FE3FF"/>
                </a:solidFill>
              </a:rPr>
              <a:t>AT · THIS TIME</a:t>
            </a:r>
            <a:endParaRPr lang="en-US" sz="3200" dirty="0"/>
          </a:p>
        </p:txBody>
      </p:sp>
      <p:sp>
        <p:nvSpPr>
          <p:cNvPr id="5" name="trick-sub-AT · THIS TIME"/>
          <p:cNvSpPr txBox="1"/>
          <p:nvPr/>
        </p:nvSpPr>
        <p:spPr>
          <a:xfrm>
            <a:off x="731520" y="22402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→ will be + -ing</a:t>
            </a:r>
            <a:endParaRPr lang="en-US" sz="1800" dirty="0"/>
          </a:p>
        </p:txBody>
      </p:sp>
      <p:sp>
        <p:nvSpPr>
          <p:cNvPr id="6" name="trick-list-AT · THIS TIME"/>
          <p:cNvSpPr txBox="1"/>
          <p:nvPr/>
        </p:nvSpPr>
        <p:spPr>
          <a:xfrm>
            <a:off x="731520" y="274320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C9D3F2"/>
                </a:solidFill>
              </a:rPr>
              <a:t>at 8 p.m. / at noon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C9D3F2"/>
                </a:solidFill>
              </a:rPr>
              <a:t>this time tomorrow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C9D3F2"/>
                </a:solidFill>
              </a:rPr>
              <a:t>this time next week</a:t>
            </a:r>
            <a:endParaRPr lang="en-US" sz="1500" dirty="0"/>
          </a:p>
        </p:txBody>
      </p:sp>
      <p:sp>
        <p:nvSpPr>
          <p:cNvPr id="7" name="trick-BY · BY THE TIME"/>
          <p:cNvSpPr/>
          <p:nvPr/>
        </p:nvSpPr>
        <p:spPr>
          <a:xfrm>
            <a:off x="4754880" y="1234440"/>
            <a:ext cx="3931920" cy="3200400"/>
          </a:xfrm>
          <a:prstGeom prst="roundRect">
            <a:avLst>
              <a:gd name="adj" fmla="val 3429"/>
            </a:avLst>
          </a:prstGeom>
          <a:solidFill>
            <a:srgbClr val="17225C"/>
          </a:solidFill>
          <a:ln w="25400">
            <a:solidFill>
              <a:srgbClr val="E0A92E"/>
            </a:solidFill>
            <a:prstDash val="solid"/>
          </a:ln>
        </p:spPr>
      </p:sp>
      <p:sp>
        <p:nvSpPr>
          <p:cNvPr id="8" name="trick-big-BY · BY THE TIME"/>
          <p:cNvSpPr txBox="1"/>
          <p:nvPr/>
        </p:nvSpPr>
        <p:spPr>
          <a:xfrm>
            <a:off x="5029200" y="14173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A92E"/>
                </a:solidFill>
              </a:rPr>
              <a:t>BY · BY THE TIME</a:t>
            </a:r>
            <a:endParaRPr lang="en-US" sz="3200" dirty="0"/>
          </a:p>
        </p:txBody>
      </p:sp>
      <p:sp>
        <p:nvSpPr>
          <p:cNvPr id="9" name="trick-sub-BY · BY THE TIME"/>
          <p:cNvSpPr txBox="1"/>
          <p:nvPr/>
        </p:nvSpPr>
        <p:spPr>
          <a:xfrm>
            <a:off x="5029200" y="22402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→ will have + particípio</a:t>
            </a:r>
            <a:endParaRPr lang="en-US" sz="1800" dirty="0"/>
          </a:p>
        </p:txBody>
      </p:sp>
      <p:sp>
        <p:nvSpPr>
          <p:cNvPr id="10" name="trick-list-BY · BY THE TIME"/>
          <p:cNvSpPr txBox="1"/>
          <p:nvPr/>
        </p:nvSpPr>
        <p:spPr>
          <a:xfrm>
            <a:off x="5029200" y="274320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C9D3F2"/>
                </a:solidFill>
              </a:rPr>
              <a:t>by June / by midnight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C9D3F2"/>
                </a:solidFill>
              </a:rPr>
              <a:t>by the end of the year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C9D3F2"/>
                </a:solidFill>
              </a:rPr>
              <a:t>by the time the party starts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6D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Monte a frase</a:t>
            </a:r>
            <a:endParaRPr lang="en-US" sz="3200" dirty="0"/>
          </a:p>
        </p:txBody>
      </p:sp>
      <p:sp>
        <p:nvSpPr>
          <p:cNvPr id="3" name="pt-sentence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“Até o fim do ano, ela já terá economizado dinheiro suficiente para a viagem.”</a:t>
            </a:r>
            <a:endParaRPr lang="en-US" sz="1800" dirty="0"/>
          </a:p>
        </p:txBody>
      </p:sp>
      <p:sp>
        <p:nvSpPr>
          <p:cNvPr id="4" name="block-ADV-0"/>
          <p:cNvSpPr/>
          <p:nvPr/>
        </p:nvSpPr>
        <p:spPr>
          <a:xfrm>
            <a:off x="457200" y="1828800"/>
            <a:ext cx="2503170" cy="731520"/>
          </a:xfrm>
          <a:prstGeom prst="roundRect">
            <a:avLst>
              <a:gd name="adj" fmla="val 10000"/>
            </a:avLst>
          </a:prstGeom>
          <a:solidFill>
            <a:srgbClr val="C8476B"/>
          </a:solidFill>
          <a:ln w="12700">
            <a:solidFill>
              <a:srgbClr val="C8476B"/>
            </a:solidFill>
            <a:prstDash val="solid"/>
          </a:ln>
        </p:spPr>
      </p:sp>
      <p:sp>
        <p:nvSpPr>
          <p:cNvPr id="5" name="block-text-0"/>
          <p:cNvSpPr txBox="1"/>
          <p:nvPr/>
        </p:nvSpPr>
        <p:spPr>
          <a:xfrm>
            <a:off x="457200" y="1828800"/>
            <a:ext cx="250317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ADV</a:t>
            </a:r>
            <a:endParaRPr lang="en-US" sz="10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by the end of the year</a:t>
            </a:r>
            <a:endParaRPr lang="en-US" sz="1000" dirty="0"/>
          </a:p>
        </p:txBody>
      </p:sp>
      <p:sp>
        <p:nvSpPr>
          <p:cNvPr id="6" name="block-S-1"/>
          <p:cNvSpPr/>
          <p:nvPr/>
        </p:nvSpPr>
        <p:spPr>
          <a:xfrm>
            <a:off x="3015234" y="1828800"/>
            <a:ext cx="700888" cy="731520"/>
          </a:xfrm>
          <a:prstGeom prst="roundRect">
            <a:avLst>
              <a:gd name="adj" fmla="val 10437"/>
            </a:avLst>
          </a:prstGeom>
          <a:solidFill>
            <a:srgbClr val="1E2A5E"/>
          </a:solidFill>
          <a:ln w="12700">
            <a:solidFill>
              <a:srgbClr val="1E2A5E"/>
            </a:solidFill>
            <a:prstDash val="solid"/>
          </a:ln>
        </p:spPr>
      </p:sp>
      <p:sp>
        <p:nvSpPr>
          <p:cNvPr id="7" name="block-text-1"/>
          <p:cNvSpPr txBox="1"/>
          <p:nvPr/>
        </p:nvSpPr>
        <p:spPr>
          <a:xfrm>
            <a:off x="3015234" y="1828800"/>
            <a:ext cx="700888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</a:t>
            </a:r>
            <a:endParaRPr lang="en-US" sz="10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she</a:t>
            </a:r>
            <a:endParaRPr lang="en-US" sz="1000" dirty="0"/>
          </a:p>
        </p:txBody>
      </p:sp>
      <p:sp>
        <p:nvSpPr>
          <p:cNvPr id="8" name="block-AUX-2"/>
          <p:cNvSpPr/>
          <p:nvPr/>
        </p:nvSpPr>
        <p:spPr>
          <a:xfrm>
            <a:off x="3770986" y="1828800"/>
            <a:ext cx="1201522" cy="731520"/>
          </a:xfrm>
          <a:prstGeom prst="roundRect">
            <a:avLst>
              <a:gd name="adj" fmla="val 10000"/>
            </a:avLst>
          </a:prstGeom>
          <a:solidFill>
            <a:srgbClr val="D4A83A"/>
          </a:solidFill>
          <a:ln w="12700">
            <a:solidFill>
              <a:srgbClr val="D4A83A"/>
            </a:solidFill>
            <a:prstDash val="solid"/>
          </a:ln>
        </p:spPr>
      </p:sp>
      <p:sp>
        <p:nvSpPr>
          <p:cNvPr id="9" name="block-text-2"/>
          <p:cNvSpPr txBox="1"/>
          <p:nvPr/>
        </p:nvSpPr>
        <p:spPr>
          <a:xfrm>
            <a:off x="3770986" y="1828800"/>
            <a:ext cx="1201522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AUX</a:t>
            </a:r>
            <a:endParaRPr lang="en-US" sz="10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will have</a:t>
            </a:r>
            <a:endParaRPr lang="en-US" sz="1000" dirty="0"/>
          </a:p>
        </p:txBody>
      </p:sp>
      <p:sp>
        <p:nvSpPr>
          <p:cNvPr id="10" name="block-V-3"/>
          <p:cNvSpPr/>
          <p:nvPr/>
        </p:nvSpPr>
        <p:spPr>
          <a:xfrm>
            <a:off x="5027371" y="1828800"/>
            <a:ext cx="801014" cy="731520"/>
          </a:xfrm>
          <a:prstGeom prst="roundRect">
            <a:avLst>
              <a:gd name="adj" fmla="val 10000"/>
            </a:avLst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</p:sp>
      <p:sp>
        <p:nvSpPr>
          <p:cNvPr id="11" name="block-text-3"/>
          <p:cNvSpPr txBox="1"/>
          <p:nvPr/>
        </p:nvSpPr>
        <p:spPr>
          <a:xfrm>
            <a:off x="5027371" y="1828800"/>
            <a:ext cx="801014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</a:t>
            </a:r>
            <a:endParaRPr lang="en-US" sz="10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saved</a:t>
            </a:r>
            <a:endParaRPr lang="en-US" sz="1000" dirty="0"/>
          </a:p>
        </p:txBody>
      </p:sp>
      <p:sp>
        <p:nvSpPr>
          <p:cNvPr id="12" name="block-O-4"/>
          <p:cNvSpPr/>
          <p:nvPr/>
        </p:nvSpPr>
        <p:spPr>
          <a:xfrm>
            <a:off x="5883250" y="1828800"/>
            <a:ext cx="2803550" cy="731520"/>
          </a:xfrm>
          <a:prstGeom prst="roundRect">
            <a:avLst>
              <a:gd name="adj" fmla="val 10000"/>
            </a:avLst>
          </a:prstGeom>
          <a:solidFill>
            <a:srgbClr val="E8735A"/>
          </a:solidFill>
          <a:ln w="12700">
            <a:solidFill>
              <a:srgbClr val="E8735A"/>
            </a:solidFill>
            <a:prstDash val="solid"/>
          </a:ln>
        </p:spPr>
      </p:sp>
      <p:sp>
        <p:nvSpPr>
          <p:cNvPr id="13" name="block-text-4"/>
          <p:cNvSpPr txBox="1"/>
          <p:nvPr/>
        </p:nvSpPr>
        <p:spPr>
          <a:xfrm>
            <a:off x="5883250" y="1828800"/>
            <a:ext cx="280355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</a:t>
            </a:r>
            <a:endParaRPr lang="en-US" sz="10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enough money for the trip</a:t>
            </a:r>
            <a:endParaRPr lang="en-US" sz="1000" dirty="0"/>
          </a:p>
        </p:txBody>
      </p:sp>
      <p:sp>
        <p:nvSpPr>
          <p:cNvPr id="14" name="trap"/>
          <p:cNvSpPr/>
          <p:nvPr/>
        </p:nvSpPr>
        <p:spPr>
          <a:xfrm>
            <a:off x="457200" y="283464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FDECEF"/>
          </a:solidFill>
          <a:ln w="19050">
            <a:solidFill>
              <a:srgbClr val="C8476B"/>
            </a:solidFill>
            <a:prstDash val="dash"/>
          </a:ln>
        </p:spPr>
      </p:sp>
      <p:sp>
        <p:nvSpPr>
          <p:cNvPr id="15" name="trap-text"/>
          <p:cNvSpPr txBox="1"/>
          <p:nvPr/>
        </p:nvSpPr>
        <p:spPr>
          <a:xfrm>
            <a:off x="548640" y="28346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2828"/>
                </a:solidFill>
              </a:rPr>
              <a:t>Bloco-armadilha</a:t>
            </a:r>
            <a:endParaRPr lang="en-US" sz="13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D4A83A"/>
                </a:solidFill>
              </a:rPr>
              <a:t>“will be”</a:t>
            </a:r>
            <a:endParaRPr lang="en-US" sz="1300" dirty="0"/>
          </a:p>
        </p:txBody>
      </p:sp>
      <p:sp>
        <p:nvSpPr>
          <p:cNvPr id="16" name="answer"/>
          <p:cNvSpPr/>
          <p:nvPr/>
        </p:nvSpPr>
        <p:spPr>
          <a:xfrm>
            <a:off x="3108960" y="2834640"/>
            <a:ext cx="5577840" cy="1188720"/>
          </a:xfrm>
          <a:prstGeom prst="roundRect">
            <a:avLst>
              <a:gd name="adj" fmla="val 7692"/>
            </a:avLst>
          </a:prstGeom>
          <a:solidFill>
            <a:srgbClr val="EDF7EE"/>
          </a:solidFill>
          <a:ln w="12700">
            <a:solidFill>
              <a:srgbClr val="CFE6D1"/>
            </a:solidFill>
            <a:prstDash val="solid"/>
          </a:ln>
        </p:spPr>
      </p:sp>
      <p:sp>
        <p:nvSpPr>
          <p:cNvPr id="17" name="answer-text"/>
          <p:cNvSpPr txBox="1"/>
          <p:nvPr/>
        </p:nvSpPr>
        <p:spPr>
          <a:xfrm>
            <a:off x="3291840" y="283464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</a:rPr>
              <a:t>✓ By the end of the year she will have saved enough money for the trip.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B2240"/>
                </a:solidFill>
              </a:rPr>
              <a:t>Por quê? Ação concluída antes de um momento futuro → will have + particípio. BY = prazo final.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Complete a lacuna</a:t>
            </a:r>
            <a:endParaRPr lang="en-US" sz="3200" dirty="0"/>
          </a:p>
        </p:txBody>
      </p:sp>
      <p:sp>
        <p:nvSpPr>
          <p:cNvPr id="3" name="question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Don't call me at 8 — we ______ dinner then.</a:t>
            </a:r>
            <a:endParaRPr lang="en-US" sz="2200" dirty="0"/>
          </a:p>
        </p:txBody>
      </p:sp>
      <p:sp>
        <p:nvSpPr>
          <p:cNvPr id="4" name="opt-0"/>
          <p:cNvSpPr/>
          <p:nvPr/>
        </p:nvSpPr>
        <p:spPr>
          <a:xfrm>
            <a:off x="457200" y="182880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F4F6FC"/>
          </a:solidFill>
          <a:ln w="12700">
            <a:solidFill>
              <a:srgbClr val="DDE3F2"/>
            </a:solidFill>
            <a:prstDash val="solid"/>
          </a:ln>
        </p:spPr>
      </p:sp>
      <p:sp>
        <p:nvSpPr>
          <p:cNvPr id="5" name="opt-text-0"/>
          <p:cNvSpPr txBox="1"/>
          <p:nvPr/>
        </p:nvSpPr>
        <p:spPr>
          <a:xfrm>
            <a:off x="640080" y="18288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A)  had had</a:t>
            </a:r>
            <a:endParaRPr lang="en-US" sz="1700" dirty="0"/>
          </a:p>
        </p:txBody>
      </p:sp>
      <p:sp>
        <p:nvSpPr>
          <p:cNvPr id="6" name="opt-1"/>
          <p:cNvSpPr/>
          <p:nvPr/>
        </p:nvSpPr>
        <p:spPr>
          <a:xfrm>
            <a:off x="4663440" y="182880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F4F6FC"/>
          </a:solidFill>
          <a:ln w="12700">
            <a:solidFill>
              <a:srgbClr val="DDE3F2"/>
            </a:solidFill>
            <a:prstDash val="solid"/>
          </a:ln>
        </p:spPr>
      </p:sp>
      <p:sp>
        <p:nvSpPr>
          <p:cNvPr id="7" name="opt-text-1"/>
          <p:cNvSpPr txBox="1"/>
          <p:nvPr/>
        </p:nvSpPr>
        <p:spPr>
          <a:xfrm>
            <a:off x="4846320" y="18288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B)  are going to have had</a:t>
            </a:r>
            <a:endParaRPr lang="en-US" sz="1700" dirty="0"/>
          </a:p>
        </p:txBody>
      </p:sp>
      <p:sp>
        <p:nvSpPr>
          <p:cNvPr id="8" name="opt-2"/>
          <p:cNvSpPr/>
          <p:nvPr/>
        </p:nvSpPr>
        <p:spPr>
          <a:xfrm>
            <a:off x="457200" y="269748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F4F6FC"/>
          </a:solidFill>
          <a:ln w="12700">
            <a:solidFill>
              <a:srgbClr val="DDE3F2"/>
            </a:solidFill>
            <a:prstDash val="solid"/>
          </a:ln>
        </p:spPr>
      </p:sp>
      <p:sp>
        <p:nvSpPr>
          <p:cNvPr id="9" name="opt-text-2"/>
          <p:cNvSpPr txBox="1"/>
          <p:nvPr/>
        </p:nvSpPr>
        <p:spPr>
          <a:xfrm>
            <a:off x="640080" y="26974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C)  will be having</a:t>
            </a:r>
            <a:endParaRPr lang="en-US" sz="1700" dirty="0"/>
          </a:p>
        </p:txBody>
      </p:sp>
      <p:sp>
        <p:nvSpPr>
          <p:cNvPr id="10" name="opt-3"/>
          <p:cNvSpPr/>
          <p:nvPr/>
        </p:nvSpPr>
        <p:spPr>
          <a:xfrm>
            <a:off x="4663440" y="269748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F4F6FC"/>
          </a:solidFill>
          <a:ln w="12700">
            <a:solidFill>
              <a:srgbClr val="DDE3F2"/>
            </a:solidFill>
            <a:prstDash val="solid"/>
          </a:ln>
        </p:spPr>
      </p:sp>
      <p:sp>
        <p:nvSpPr>
          <p:cNvPr id="11" name="opt-text-3"/>
          <p:cNvSpPr txBox="1"/>
          <p:nvPr/>
        </p:nvSpPr>
        <p:spPr>
          <a:xfrm>
            <a:off x="4846320" y="26974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D)  will have had</a:t>
            </a:r>
            <a:endParaRPr lang="en-US" sz="1700" dirty="0"/>
          </a:p>
        </p:txBody>
      </p:sp>
      <p:sp>
        <p:nvSpPr>
          <p:cNvPr id="12" name="timer"/>
          <p:cNvSpPr txBox="1"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8F9C"/>
                </a:solidFill>
              </a:rPr>
              <a:t>⏳ 20 segundos · vale 1 elixir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Complete a lacuna · resposta</a:t>
            </a:r>
            <a:endParaRPr lang="en-US" sz="3200" dirty="0"/>
          </a:p>
        </p:txBody>
      </p:sp>
      <p:sp>
        <p:nvSpPr>
          <p:cNvPr id="3" name="question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Don't call me at 8 — we ______ dinner then.</a:t>
            </a:r>
            <a:endParaRPr lang="en-US" sz="2200" dirty="0"/>
          </a:p>
        </p:txBody>
      </p:sp>
      <p:sp>
        <p:nvSpPr>
          <p:cNvPr id="4" name="opt-0"/>
          <p:cNvSpPr/>
          <p:nvPr/>
        </p:nvSpPr>
        <p:spPr>
          <a:xfrm>
            <a:off x="457200" y="182880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F4F6FC"/>
          </a:solidFill>
          <a:ln w="12700">
            <a:solidFill>
              <a:srgbClr val="DDE3F2"/>
            </a:solidFill>
            <a:prstDash val="solid"/>
          </a:ln>
        </p:spPr>
      </p:sp>
      <p:sp>
        <p:nvSpPr>
          <p:cNvPr id="5" name="opt-text-0"/>
          <p:cNvSpPr txBox="1"/>
          <p:nvPr/>
        </p:nvSpPr>
        <p:spPr>
          <a:xfrm>
            <a:off x="640080" y="18288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A)  had had</a:t>
            </a:r>
            <a:endParaRPr lang="en-US" sz="1700" dirty="0"/>
          </a:p>
        </p:txBody>
      </p:sp>
      <p:sp>
        <p:nvSpPr>
          <p:cNvPr id="6" name="opt-1"/>
          <p:cNvSpPr/>
          <p:nvPr/>
        </p:nvSpPr>
        <p:spPr>
          <a:xfrm>
            <a:off x="4663440" y="182880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F4F6FC"/>
          </a:solidFill>
          <a:ln w="12700">
            <a:solidFill>
              <a:srgbClr val="DDE3F2"/>
            </a:solidFill>
            <a:prstDash val="solid"/>
          </a:ln>
        </p:spPr>
      </p:sp>
      <p:sp>
        <p:nvSpPr>
          <p:cNvPr id="7" name="opt-text-1"/>
          <p:cNvSpPr txBox="1"/>
          <p:nvPr/>
        </p:nvSpPr>
        <p:spPr>
          <a:xfrm>
            <a:off x="4846320" y="18288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B)  are going to have had</a:t>
            </a:r>
            <a:endParaRPr lang="en-US" sz="1700" dirty="0"/>
          </a:p>
        </p:txBody>
      </p:sp>
      <p:sp>
        <p:nvSpPr>
          <p:cNvPr id="8" name="opt-2"/>
          <p:cNvSpPr/>
          <p:nvPr/>
        </p:nvSpPr>
        <p:spPr>
          <a:xfrm>
            <a:off x="457200" y="269748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opt-text-2"/>
          <p:cNvSpPr txBox="1"/>
          <p:nvPr/>
        </p:nvSpPr>
        <p:spPr>
          <a:xfrm>
            <a:off x="640080" y="26974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C)  will be having  ✓</a:t>
            </a:r>
            <a:endParaRPr lang="en-US" sz="1700" dirty="0"/>
          </a:p>
        </p:txBody>
      </p:sp>
      <p:sp>
        <p:nvSpPr>
          <p:cNvPr id="10" name="opt-3"/>
          <p:cNvSpPr/>
          <p:nvPr/>
        </p:nvSpPr>
        <p:spPr>
          <a:xfrm>
            <a:off x="4663440" y="269748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F4F6FC"/>
          </a:solidFill>
          <a:ln w="12700">
            <a:solidFill>
              <a:srgbClr val="DDE3F2"/>
            </a:solidFill>
            <a:prstDash val="solid"/>
          </a:ln>
        </p:spPr>
      </p:sp>
      <p:sp>
        <p:nvSpPr>
          <p:cNvPr id="11" name="opt-text-3"/>
          <p:cNvSpPr txBox="1"/>
          <p:nvPr/>
        </p:nvSpPr>
        <p:spPr>
          <a:xfrm>
            <a:off x="4846320" y="26974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D)  will have had</a:t>
            </a:r>
            <a:endParaRPr lang="en-US" sz="1700" dirty="0"/>
          </a:p>
        </p:txBody>
      </p:sp>
      <p:sp>
        <p:nvSpPr>
          <p:cNvPr id="12" name="why"/>
          <p:cNvSpPr txBox="1"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Por quê?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 momento exato (at 8) a ação estará EM ANDAMENTO → Future Continuous.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Complete a lacuna</a:t>
            </a:r>
            <a:endParaRPr lang="en-US" sz="3200" dirty="0"/>
          </a:p>
        </p:txBody>
      </p:sp>
      <p:sp>
        <p:nvSpPr>
          <p:cNvPr id="3" name="question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By the time you arrive, the film ______ (start).</a:t>
            </a:r>
            <a:endParaRPr lang="en-US" sz="2200" dirty="0"/>
          </a:p>
        </p:txBody>
      </p:sp>
      <p:sp>
        <p:nvSpPr>
          <p:cNvPr id="4" name="opt-0"/>
          <p:cNvSpPr/>
          <p:nvPr/>
        </p:nvSpPr>
        <p:spPr>
          <a:xfrm>
            <a:off x="457200" y="182880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F4F6FC"/>
          </a:solidFill>
          <a:ln w="12700">
            <a:solidFill>
              <a:srgbClr val="DDE3F2"/>
            </a:solidFill>
            <a:prstDash val="solid"/>
          </a:ln>
        </p:spPr>
      </p:sp>
      <p:sp>
        <p:nvSpPr>
          <p:cNvPr id="5" name="opt-text-0"/>
          <p:cNvSpPr txBox="1"/>
          <p:nvPr/>
        </p:nvSpPr>
        <p:spPr>
          <a:xfrm>
            <a:off x="640080" y="18288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A)  will be starting</a:t>
            </a:r>
            <a:endParaRPr lang="en-US" sz="1700" dirty="0"/>
          </a:p>
        </p:txBody>
      </p:sp>
      <p:sp>
        <p:nvSpPr>
          <p:cNvPr id="6" name="opt-1"/>
          <p:cNvSpPr/>
          <p:nvPr/>
        </p:nvSpPr>
        <p:spPr>
          <a:xfrm>
            <a:off x="4663440" y="182880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F4F6FC"/>
          </a:solidFill>
          <a:ln w="12700">
            <a:solidFill>
              <a:srgbClr val="DDE3F2"/>
            </a:solidFill>
            <a:prstDash val="solid"/>
          </a:ln>
        </p:spPr>
      </p:sp>
      <p:sp>
        <p:nvSpPr>
          <p:cNvPr id="7" name="opt-text-1"/>
          <p:cNvSpPr txBox="1"/>
          <p:nvPr/>
        </p:nvSpPr>
        <p:spPr>
          <a:xfrm>
            <a:off x="4846320" y="18288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B)  will start</a:t>
            </a:r>
            <a:endParaRPr lang="en-US" sz="1700" dirty="0"/>
          </a:p>
        </p:txBody>
      </p:sp>
      <p:sp>
        <p:nvSpPr>
          <p:cNvPr id="8" name="opt-2"/>
          <p:cNvSpPr/>
          <p:nvPr/>
        </p:nvSpPr>
        <p:spPr>
          <a:xfrm>
            <a:off x="457200" y="269748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F4F6FC"/>
          </a:solidFill>
          <a:ln w="12700">
            <a:solidFill>
              <a:srgbClr val="DDE3F2"/>
            </a:solidFill>
            <a:prstDash val="solid"/>
          </a:ln>
        </p:spPr>
      </p:sp>
      <p:sp>
        <p:nvSpPr>
          <p:cNvPr id="9" name="opt-text-2"/>
          <p:cNvSpPr txBox="1"/>
          <p:nvPr/>
        </p:nvSpPr>
        <p:spPr>
          <a:xfrm>
            <a:off x="640080" y="26974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C)  has been starting</a:t>
            </a:r>
            <a:endParaRPr lang="en-US" sz="1700" dirty="0"/>
          </a:p>
        </p:txBody>
      </p:sp>
      <p:sp>
        <p:nvSpPr>
          <p:cNvPr id="10" name="opt-3"/>
          <p:cNvSpPr/>
          <p:nvPr/>
        </p:nvSpPr>
        <p:spPr>
          <a:xfrm>
            <a:off x="4663440" y="269748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F4F6FC"/>
          </a:solidFill>
          <a:ln w="12700">
            <a:solidFill>
              <a:srgbClr val="DDE3F2"/>
            </a:solidFill>
            <a:prstDash val="solid"/>
          </a:ln>
        </p:spPr>
      </p:sp>
      <p:sp>
        <p:nvSpPr>
          <p:cNvPr id="11" name="opt-text-3"/>
          <p:cNvSpPr txBox="1"/>
          <p:nvPr/>
        </p:nvSpPr>
        <p:spPr>
          <a:xfrm>
            <a:off x="4846320" y="26974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D)  will have started</a:t>
            </a:r>
            <a:endParaRPr lang="en-US" sz="1700" dirty="0"/>
          </a:p>
        </p:txBody>
      </p:sp>
      <p:sp>
        <p:nvSpPr>
          <p:cNvPr id="12" name="timer"/>
          <p:cNvSpPr txBox="1"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8F9C"/>
                </a:solidFill>
              </a:rPr>
              <a:t>⏳ 20 segundos · vale 1 elixir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Complete a lacuna · resposta</a:t>
            </a:r>
            <a:endParaRPr lang="en-US" sz="3200" dirty="0"/>
          </a:p>
        </p:txBody>
      </p:sp>
      <p:sp>
        <p:nvSpPr>
          <p:cNvPr id="3" name="question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By the time you arrive, the film ______ (start).</a:t>
            </a:r>
            <a:endParaRPr lang="en-US" sz="2200" dirty="0"/>
          </a:p>
        </p:txBody>
      </p:sp>
      <p:sp>
        <p:nvSpPr>
          <p:cNvPr id="4" name="opt-0"/>
          <p:cNvSpPr/>
          <p:nvPr/>
        </p:nvSpPr>
        <p:spPr>
          <a:xfrm>
            <a:off x="457200" y="182880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F4F6FC"/>
          </a:solidFill>
          <a:ln w="12700">
            <a:solidFill>
              <a:srgbClr val="DDE3F2"/>
            </a:solidFill>
            <a:prstDash val="solid"/>
          </a:ln>
        </p:spPr>
      </p:sp>
      <p:sp>
        <p:nvSpPr>
          <p:cNvPr id="5" name="opt-text-0"/>
          <p:cNvSpPr txBox="1"/>
          <p:nvPr/>
        </p:nvSpPr>
        <p:spPr>
          <a:xfrm>
            <a:off x="640080" y="18288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A)  will be starting</a:t>
            </a:r>
            <a:endParaRPr lang="en-US" sz="1700" dirty="0"/>
          </a:p>
        </p:txBody>
      </p:sp>
      <p:sp>
        <p:nvSpPr>
          <p:cNvPr id="6" name="opt-1"/>
          <p:cNvSpPr/>
          <p:nvPr/>
        </p:nvSpPr>
        <p:spPr>
          <a:xfrm>
            <a:off x="4663440" y="182880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F4F6FC"/>
          </a:solidFill>
          <a:ln w="12700">
            <a:solidFill>
              <a:srgbClr val="DDE3F2"/>
            </a:solidFill>
            <a:prstDash val="solid"/>
          </a:ln>
        </p:spPr>
      </p:sp>
      <p:sp>
        <p:nvSpPr>
          <p:cNvPr id="7" name="opt-text-1"/>
          <p:cNvSpPr txBox="1"/>
          <p:nvPr/>
        </p:nvSpPr>
        <p:spPr>
          <a:xfrm>
            <a:off x="4846320" y="18288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B)  will start</a:t>
            </a:r>
            <a:endParaRPr lang="en-US" sz="1700" dirty="0"/>
          </a:p>
        </p:txBody>
      </p:sp>
      <p:sp>
        <p:nvSpPr>
          <p:cNvPr id="8" name="opt-2"/>
          <p:cNvSpPr/>
          <p:nvPr/>
        </p:nvSpPr>
        <p:spPr>
          <a:xfrm>
            <a:off x="457200" y="269748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F4F6FC"/>
          </a:solidFill>
          <a:ln w="12700">
            <a:solidFill>
              <a:srgbClr val="DDE3F2"/>
            </a:solidFill>
            <a:prstDash val="solid"/>
          </a:ln>
        </p:spPr>
      </p:sp>
      <p:sp>
        <p:nvSpPr>
          <p:cNvPr id="9" name="opt-text-2"/>
          <p:cNvSpPr txBox="1"/>
          <p:nvPr/>
        </p:nvSpPr>
        <p:spPr>
          <a:xfrm>
            <a:off x="640080" y="26974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C)  has been starting</a:t>
            </a:r>
            <a:endParaRPr lang="en-US" sz="1700" dirty="0"/>
          </a:p>
        </p:txBody>
      </p:sp>
      <p:sp>
        <p:nvSpPr>
          <p:cNvPr id="10" name="opt-3"/>
          <p:cNvSpPr/>
          <p:nvPr/>
        </p:nvSpPr>
        <p:spPr>
          <a:xfrm>
            <a:off x="4663440" y="269748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opt-text-3"/>
          <p:cNvSpPr txBox="1"/>
          <p:nvPr/>
        </p:nvSpPr>
        <p:spPr>
          <a:xfrm>
            <a:off x="4846320" y="26974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D)  will have started  ✓</a:t>
            </a:r>
            <a:endParaRPr lang="en-US" sz="1700" dirty="0"/>
          </a:p>
        </p:txBody>
      </p:sp>
      <p:sp>
        <p:nvSpPr>
          <p:cNvPr id="12" name="why"/>
          <p:cNvSpPr txBox="1"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Por quê?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BY THE TIME → prazo final → Future Perfect: a ação já estará concluída.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Corrija o erro: os 3 vilões</a:t>
            </a:r>
            <a:endParaRPr lang="en-US" sz="3200" dirty="0"/>
          </a:p>
        </p:txBody>
      </p:sp>
      <p:sp>
        <p:nvSpPr>
          <p:cNvPr id="3" name="villain-0"/>
          <p:cNvSpPr/>
          <p:nvPr/>
        </p:nvSpPr>
        <p:spPr>
          <a:xfrm>
            <a:off x="457200" y="1188720"/>
            <a:ext cx="2606040" cy="3246120"/>
          </a:xfrm>
          <a:prstGeom prst="roundRect">
            <a:avLst>
              <a:gd name="adj" fmla="val 4211"/>
            </a:avLst>
          </a:prstGeom>
          <a:solidFill>
            <a:srgbClr val="F4F6FC"/>
          </a:solidFill>
          <a:ln w="12700">
            <a:solidFill>
              <a:srgbClr val="DDE3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4" name="villain-head-0"/>
          <p:cNvSpPr txBox="1"/>
          <p:nvPr/>
        </p:nvSpPr>
        <p:spPr>
          <a:xfrm>
            <a:off x="640080" y="1325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O BE que some</a:t>
            </a:r>
            <a:endParaRPr lang="en-US" sz="1700" dirty="0"/>
          </a:p>
        </p:txBody>
      </p:sp>
      <p:sp>
        <p:nvSpPr>
          <p:cNvPr id="5" name="villain-bad-0"/>
          <p:cNvSpPr txBox="1"/>
          <p:nvPr/>
        </p:nvSpPr>
        <p:spPr>
          <a:xfrm>
            <a:off x="640080" y="18745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</a:rPr>
              <a:t>✗ </a:t>
            </a:r>
            <a:pPr indent="0" marL="0">
              <a:buNone/>
            </a:pPr>
            <a:r>
              <a:rPr lang="en-US" sz="1500" strike="sngStrike" dirty="0">
                <a:solidFill>
                  <a:srgbClr val="C62828"/>
                </a:solidFill>
              </a:rPr>
              <a:t>At 9 tomorrow I will working.</a:t>
            </a:r>
            <a:endParaRPr lang="en-US" sz="1500" dirty="0"/>
          </a:p>
        </p:txBody>
      </p:sp>
      <p:sp>
        <p:nvSpPr>
          <p:cNvPr id="6" name="villain-good-0"/>
          <p:cNvSpPr txBox="1"/>
          <p:nvPr/>
        </p:nvSpPr>
        <p:spPr>
          <a:xfrm>
            <a:off x="640080" y="30632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</a:rPr>
              <a:t>✓ At 9 tomorrow I will be working.</a:t>
            </a:r>
            <a:endParaRPr lang="en-US" sz="1500" dirty="0"/>
          </a:p>
        </p:txBody>
      </p:sp>
      <p:sp>
        <p:nvSpPr>
          <p:cNvPr id="7" name="villain-1"/>
          <p:cNvSpPr/>
          <p:nvPr/>
        </p:nvSpPr>
        <p:spPr>
          <a:xfrm>
            <a:off x="3264408" y="1188720"/>
            <a:ext cx="2606040" cy="3246120"/>
          </a:xfrm>
          <a:prstGeom prst="roundRect">
            <a:avLst>
              <a:gd name="adj" fmla="val 4211"/>
            </a:avLst>
          </a:prstGeom>
          <a:solidFill>
            <a:srgbClr val="F4F6FC"/>
          </a:solidFill>
          <a:ln w="12700">
            <a:solidFill>
              <a:srgbClr val="DDE3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villain-head-1"/>
          <p:cNvSpPr txBox="1"/>
          <p:nvPr/>
        </p:nvSpPr>
        <p:spPr>
          <a:xfrm>
            <a:off x="3447288" y="1325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O particípio esquecido</a:t>
            </a:r>
            <a:endParaRPr lang="en-US" sz="1700" dirty="0"/>
          </a:p>
        </p:txBody>
      </p:sp>
      <p:sp>
        <p:nvSpPr>
          <p:cNvPr id="9" name="villain-bad-1"/>
          <p:cNvSpPr txBox="1"/>
          <p:nvPr/>
        </p:nvSpPr>
        <p:spPr>
          <a:xfrm>
            <a:off x="3447288" y="18745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</a:rPr>
              <a:t>✗ </a:t>
            </a:r>
            <a:pPr indent="0" marL="0">
              <a:buNone/>
            </a:pPr>
            <a:r>
              <a:rPr lang="en-US" sz="1500" strike="sngStrike" dirty="0">
                <a:solidFill>
                  <a:srgbClr val="C62828"/>
                </a:solidFill>
              </a:rPr>
              <a:t>By June we will have finish the course.</a:t>
            </a:r>
            <a:endParaRPr lang="en-US" sz="1500" dirty="0"/>
          </a:p>
        </p:txBody>
      </p:sp>
      <p:sp>
        <p:nvSpPr>
          <p:cNvPr id="10" name="villain-good-1"/>
          <p:cNvSpPr txBox="1"/>
          <p:nvPr/>
        </p:nvSpPr>
        <p:spPr>
          <a:xfrm>
            <a:off x="3447288" y="30632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</a:rPr>
              <a:t>✓ By June we will have finished the course.</a:t>
            </a:r>
            <a:endParaRPr lang="en-US" sz="1500" dirty="0"/>
          </a:p>
        </p:txBody>
      </p:sp>
      <p:sp>
        <p:nvSpPr>
          <p:cNvPr id="11" name="villain-2"/>
          <p:cNvSpPr/>
          <p:nvPr/>
        </p:nvSpPr>
        <p:spPr>
          <a:xfrm>
            <a:off x="6071616" y="1188720"/>
            <a:ext cx="2606040" cy="3246120"/>
          </a:xfrm>
          <a:prstGeom prst="roundRect">
            <a:avLst>
              <a:gd name="adj" fmla="val 4211"/>
            </a:avLst>
          </a:prstGeom>
          <a:solidFill>
            <a:srgbClr val="F4F6FC"/>
          </a:solidFill>
          <a:ln w="12700">
            <a:solidFill>
              <a:srgbClr val="DDE3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villain-head-2"/>
          <p:cNvSpPr txBox="1"/>
          <p:nvPr/>
        </p:nvSpPr>
        <p:spPr>
          <a:xfrm>
            <a:off x="6254496" y="1325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 mistura dos tempos</a:t>
            </a:r>
            <a:endParaRPr lang="en-US" sz="1700" dirty="0"/>
          </a:p>
        </p:txBody>
      </p:sp>
      <p:sp>
        <p:nvSpPr>
          <p:cNvPr id="13" name="villain-bad-2"/>
          <p:cNvSpPr txBox="1"/>
          <p:nvPr/>
        </p:nvSpPr>
        <p:spPr>
          <a:xfrm>
            <a:off x="6254496" y="18745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</a:rPr>
              <a:t>✗ </a:t>
            </a:r>
            <a:pPr indent="0" marL="0">
              <a:buNone/>
            </a:pPr>
            <a:r>
              <a:rPr lang="en-US" sz="1500" strike="sngStrike" dirty="0">
                <a:solidFill>
                  <a:srgbClr val="C62828"/>
                </a:solidFill>
              </a:rPr>
              <a:t>Will you have be working tomorrow?</a:t>
            </a:r>
            <a:endParaRPr lang="en-US" sz="1500" dirty="0"/>
          </a:p>
        </p:txBody>
      </p:sp>
      <p:sp>
        <p:nvSpPr>
          <p:cNvPr id="14" name="villain-good-2"/>
          <p:cNvSpPr txBox="1"/>
          <p:nvPr/>
        </p:nvSpPr>
        <p:spPr>
          <a:xfrm>
            <a:off x="6254496" y="30632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</a:rPr>
              <a:t>✓ Will you be working tomorrow?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Rodada relâmpago: 📸 ou 🏁?</a:t>
            </a:r>
            <a:endParaRPr lang="en-US" sz="3200" dirty="0"/>
          </a:p>
        </p:txBody>
      </p:sp>
      <p:sp>
        <p:nvSpPr>
          <p:cNvPr id="3" name="rapid-0"/>
          <p:cNvSpPr/>
          <p:nvPr/>
        </p:nvSpPr>
        <p:spPr>
          <a:xfrm>
            <a:off x="457200" y="118872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17225C"/>
          </a:solidFill>
          <a:ln w="12700">
            <a:solidFill>
              <a:srgbClr val="2A3A86"/>
            </a:solidFill>
            <a:prstDash val="solid"/>
          </a:ln>
        </p:spPr>
      </p:sp>
      <p:sp>
        <p:nvSpPr>
          <p:cNvPr id="4" name="rapid-q-0"/>
          <p:cNvSpPr txBox="1"/>
          <p:nvPr/>
        </p:nvSpPr>
        <p:spPr>
          <a:xfrm>
            <a:off x="685800" y="11887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This time tomorrow I ______ (fly) to Lisbon.</a:t>
            </a:r>
            <a:endParaRPr lang="en-US" sz="1700" dirty="0"/>
          </a:p>
        </p:txBody>
      </p:sp>
      <p:sp>
        <p:nvSpPr>
          <p:cNvPr id="5" name="rapid-a-0"/>
          <p:cNvSpPr txBox="1"/>
          <p:nvPr/>
        </p:nvSpPr>
        <p:spPr>
          <a:xfrm>
            <a:off x="5852160" y="11887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4FE3FF"/>
                </a:solidFill>
              </a:rPr>
              <a:t>📸 will be flying</a:t>
            </a:r>
            <a:endParaRPr lang="en-US" sz="1700" dirty="0"/>
          </a:p>
        </p:txBody>
      </p:sp>
      <p:sp>
        <p:nvSpPr>
          <p:cNvPr id="6" name="rapid-1"/>
          <p:cNvSpPr/>
          <p:nvPr/>
        </p:nvSpPr>
        <p:spPr>
          <a:xfrm>
            <a:off x="457200" y="201168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17225C"/>
          </a:solidFill>
          <a:ln w="12700">
            <a:solidFill>
              <a:srgbClr val="2A3A86"/>
            </a:solidFill>
            <a:prstDash val="solid"/>
          </a:ln>
        </p:spPr>
      </p:sp>
      <p:sp>
        <p:nvSpPr>
          <p:cNvPr id="7" name="rapid-q-1"/>
          <p:cNvSpPr txBox="1"/>
          <p:nvPr/>
        </p:nvSpPr>
        <p:spPr>
          <a:xfrm>
            <a:off x="685800" y="201168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By Friday she ______ (finish) the report.</a:t>
            </a:r>
            <a:endParaRPr lang="en-US" sz="1700" dirty="0"/>
          </a:p>
        </p:txBody>
      </p:sp>
      <p:sp>
        <p:nvSpPr>
          <p:cNvPr id="8" name="rapid-a-1"/>
          <p:cNvSpPr txBox="1"/>
          <p:nvPr/>
        </p:nvSpPr>
        <p:spPr>
          <a:xfrm>
            <a:off x="5852160" y="20116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E0A92E"/>
                </a:solidFill>
              </a:rPr>
              <a:t>🏁 will have finished</a:t>
            </a:r>
            <a:endParaRPr lang="en-US" sz="1700" dirty="0"/>
          </a:p>
        </p:txBody>
      </p:sp>
      <p:sp>
        <p:nvSpPr>
          <p:cNvPr id="9" name="rapid-2"/>
          <p:cNvSpPr/>
          <p:nvPr/>
        </p:nvSpPr>
        <p:spPr>
          <a:xfrm>
            <a:off x="457200" y="283464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17225C"/>
          </a:solidFill>
          <a:ln w="12700">
            <a:solidFill>
              <a:srgbClr val="2A3A86"/>
            </a:solidFill>
            <a:prstDash val="solid"/>
          </a:ln>
        </p:spPr>
      </p:sp>
      <p:sp>
        <p:nvSpPr>
          <p:cNvPr id="10" name="rapid-q-2"/>
          <p:cNvSpPr txBox="1"/>
          <p:nvPr/>
        </p:nvSpPr>
        <p:spPr>
          <a:xfrm>
            <a:off x="685800" y="28346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At noon we ______ (have) lunch with the director.</a:t>
            </a:r>
            <a:endParaRPr lang="en-US" sz="1700" dirty="0"/>
          </a:p>
        </p:txBody>
      </p:sp>
      <p:sp>
        <p:nvSpPr>
          <p:cNvPr id="11" name="rapid-a-2"/>
          <p:cNvSpPr txBox="1"/>
          <p:nvPr/>
        </p:nvSpPr>
        <p:spPr>
          <a:xfrm>
            <a:off x="5852160" y="28346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4FE3FF"/>
                </a:solidFill>
              </a:rPr>
              <a:t>📸 will be having</a:t>
            </a:r>
            <a:endParaRPr lang="en-US" sz="1700" dirty="0"/>
          </a:p>
        </p:txBody>
      </p:sp>
      <p:sp>
        <p:nvSpPr>
          <p:cNvPr id="12" name="rapid-3"/>
          <p:cNvSpPr/>
          <p:nvPr/>
        </p:nvSpPr>
        <p:spPr>
          <a:xfrm>
            <a:off x="457200" y="365760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17225C"/>
          </a:solidFill>
          <a:ln w="12700">
            <a:solidFill>
              <a:srgbClr val="2A3A86"/>
            </a:solidFill>
            <a:prstDash val="solid"/>
          </a:ln>
        </p:spPr>
      </p:sp>
      <p:sp>
        <p:nvSpPr>
          <p:cNvPr id="13" name="rapid-q-3"/>
          <p:cNvSpPr txBox="1"/>
          <p:nvPr/>
        </p:nvSpPr>
        <p:spPr>
          <a:xfrm>
            <a:off x="685800" y="365760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By the time you read this, I ______ (leave).</a:t>
            </a:r>
            <a:endParaRPr lang="en-US" sz="1700" dirty="0"/>
          </a:p>
        </p:txBody>
      </p:sp>
      <p:sp>
        <p:nvSpPr>
          <p:cNvPr id="14" name="rapid-a-3"/>
          <p:cNvSpPr txBox="1"/>
          <p:nvPr/>
        </p:nvSpPr>
        <p:spPr>
          <a:xfrm>
            <a:off x="5852160" y="36576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E0A92E"/>
                </a:solidFill>
              </a:rPr>
              <a:t>🏁 will have left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6D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9601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85A9B"/>
                </a:solidFill>
              </a:rPr>
              <a:t>ARENA LIBERADA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13716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Hora da batalha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457200" y="256032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1. Flashcards 3D: revise os 2 poderes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2. Chrono Knight Arena: cada acerto = elixir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3. Material ODU: desafio extra + missão final</a:t>
            </a:r>
            <a:endParaRPr lang="en-US" sz="2000" dirty="0"/>
          </a:p>
        </p:txBody>
      </p:sp>
      <p:sp>
        <p:nvSpPr>
          <p:cNvPr id="5" name="glow"/>
          <p:cNvSpPr/>
          <p:nvPr/>
        </p:nvSpPr>
        <p:spPr>
          <a:xfrm>
            <a:off x="5806440" y="685800"/>
            <a:ext cx="3017520" cy="3017520"/>
          </a:xfrm>
          <a:prstGeom prst="ellipse">
            <a:avLst/>
          </a:prstGeom>
          <a:solidFill>
            <a:srgbClr val="E0A92E">
              <a:alpha val="20000"/>
            </a:srgbClr>
          </a:solidFill>
          <a:ln w="25400">
            <a:solidFill>
              <a:srgbClr val="E0A92E"/>
            </a:solidFill>
            <a:prstDash val="solid"/>
          </a:ln>
        </p:spPr>
      </p:sp>
      <p:pic>
        <p:nvPicPr>
          <p:cNvPr id="6" name="chrono-knight" descr="/home/user/docs/chunking-royale/chrono-knight/assets/chrono-kn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777240"/>
            <a:ext cx="2651760" cy="29809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hunking Royale">
  <a:themeElements>
    <a:clrScheme name="Chunking Royale">
      <a:dk1>
        <a:srgbClr val="1B2240"/>
      </a:dk1>
      <a:lt1>
        <a:srgbClr val="FFFFFF"/>
      </a:lt1>
      <a:dk2>
        <a:srgbClr val="0B1440"/>
      </a:dk2>
      <a:lt2>
        <a:srgbClr val="EEF2FB"/>
      </a:lt2>
      <a:accent1>
        <a:srgbClr val="2E5FD0"/>
      </a:accent1>
      <a:accent2>
        <a:srgbClr val="E0A92E"/>
      </a:accent2>
      <a:accent3>
        <a:srgbClr val="2E8B8B"/>
      </a:accent3>
      <a:accent4>
        <a:srgbClr val="C8476B"/>
      </a:accent4>
      <a:accent5>
        <a:srgbClr val="E8735A"/>
      </a:accent5>
      <a:accent6>
        <a:srgbClr val="2E7D32"/>
      </a:accent6>
      <a:hlink>
        <a:srgbClr val="2E5FD0"/>
      </a:hlink>
      <a:folHlink>
        <a:srgbClr val="6D2E8C"/>
      </a:folHlink>
    </a:clrScheme>
    <a:fontScheme name="Chunking Royal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Chrono Knight · Future Continuous × Future Perfect</dc:title>
  <dc:subject>PptxGenJS Presentation</dc:subject>
  <dc:creator>Professor Diego Horta · ODU</dc:creator>
  <cp:lastModifiedBy>Professor Diego Horta · ODU</cp:lastModifiedBy>
  <cp:revision>1</cp:revision>
  <dcterms:created xsi:type="dcterms:W3CDTF">2026-10-18T18:43:57Z</dcterms:created>
  <dcterms:modified xsi:type="dcterms:W3CDTF">2026-10-18T18:43:57Z</dcterms:modified>
</cp:coreProperties>
</file>