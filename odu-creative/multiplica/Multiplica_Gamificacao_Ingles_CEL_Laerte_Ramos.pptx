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48" r:id="rId5"/>
    <p:sldMasterId id="2147483654" r:id="rId6"/>
  </p:sldMasterIdLst>
  <p:sldIdLst>
    <p:sldId id="256" r:id="rId7"/>
    <p:sldId id="257" r:id="rId9"/>
    <p:sldId id="259" r:id="rId10"/>
    <p:sldId id="260" r:id="rId11"/>
    <p:sldId id="261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62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0"/>
    <p:restoredTop sz="94687"/>
  </p:normalViewPr>
  <p:slideViewPr>
    <p:cSldViewPr snapToGrid="0">
      <p:cViewPr varScale="1">
        <p:scale>
          <a:sx n="112" d="100"/>
          <a:sy n="112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5BDEF01-6948-6755-55B9-E0AE5B7FF63E}"/>
              </a:ext>
            </a:extLst>
          </p:cNvPr>
          <p:cNvSpPr/>
          <p:nvPr userDrawn="1"/>
        </p:nvSpPr>
        <p:spPr>
          <a:xfrm>
            <a:off x="0" y="0"/>
            <a:ext cx="12607557" cy="7050505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20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oogle Shape;27;p4" descr="Forma&#10;&#10;Descrição gerada automaticamente com confiança média">
            <a:extLst>
              <a:ext uri="{FF2B5EF4-FFF2-40B4-BE49-F238E27FC236}">
                <a16:creationId xmlns:a16="http://schemas.microsoft.com/office/drawing/2014/main" id="{CD979A60-19DA-DB59-7040-7DE779F5526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629064" y="5915462"/>
            <a:ext cx="2009718" cy="64001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33849A59-4533-45F0-6E9F-52449B59353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17536" y="3611734"/>
            <a:ext cx="5995779" cy="510160"/>
          </a:xfrm>
          <a:prstGeom prst="rect">
            <a:avLst/>
          </a:prstGeom>
        </p:spPr>
        <p:txBody>
          <a:bodyPr/>
          <a:lstStyle>
            <a:lvl1pPr>
              <a:buNone/>
              <a:defRPr b="0" i="0" baseline="0">
                <a:solidFill>
                  <a:srgbClr val="1A1D4A"/>
                </a:solidFill>
                <a:latin typeface="Poppins" panose="00000500000000000000" pitchFamily="2" charset="0"/>
              </a:defRPr>
            </a:lvl1pPr>
          </a:lstStyle>
          <a:p>
            <a:pPr lvl="0"/>
            <a:r>
              <a:rPr lang="pt-BR"/>
              <a:t>Seu componente</a:t>
            </a:r>
          </a:p>
        </p:txBody>
      </p:sp>
      <p:sp>
        <p:nvSpPr>
          <p:cNvPr id="19" name="Espaço Reservado para Conteúdo 17">
            <a:extLst>
              <a:ext uri="{FF2B5EF4-FFF2-40B4-BE49-F238E27FC236}">
                <a16:creationId xmlns:a16="http://schemas.microsoft.com/office/drawing/2014/main" id="{5C01BA84-D73D-4416-D1DF-C8D498A69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517535" y="4259952"/>
            <a:ext cx="5995779" cy="510160"/>
          </a:xfrm>
          <a:prstGeom prst="rect">
            <a:avLst/>
          </a:prstGeom>
        </p:spPr>
        <p:txBody>
          <a:bodyPr/>
          <a:lstStyle>
            <a:lvl1pPr>
              <a:buNone/>
              <a:defRPr b="0" i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Seu segmento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49D79C4-75A8-F955-7719-8EBE3C771D5A}"/>
              </a:ext>
            </a:extLst>
          </p:cNvPr>
          <p:cNvSpPr txBox="1"/>
          <p:nvPr userDrawn="1"/>
        </p:nvSpPr>
        <p:spPr>
          <a:xfrm>
            <a:off x="2176727" y="1389166"/>
            <a:ext cx="82723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PROGRAMA MULTIPLICA SP</a:t>
            </a:r>
            <a:br>
              <a:rPr lang="pt-BR" sz="32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32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#PROFESSORES 2ª EDIÇÃO 2026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BAEDBC-81A2-91C2-2F27-3D37695829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07270" y="4500876"/>
            <a:ext cx="4751461" cy="2672697"/>
          </a:xfrm>
          <a:prstGeom prst="rect">
            <a:avLst/>
          </a:prstGeom>
        </p:spPr>
      </p:pic>
      <p:sp>
        <p:nvSpPr>
          <p:cNvPr id="2" name="Espaço Reservado para Conteúdo 17">
            <a:extLst>
              <a:ext uri="{FF2B5EF4-FFF2-40B4-BE49-F238E27FC236}">
                <a16:creationId xmlns:a16="http://schemas.microsoft.com/office/drawing/2014/main" id="{6262B3BB-517E-C98A-B85B-59DDC1B847A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504563" y="2963516"/>
            <a:ext cx="5995779" cy="510160"/>
          </a:xfrm>
          <a:prstGeom prst="rect">
            <a:avLst/>
          </a:prstGeom>
        </p:spPr>
        <p:txBody>
          <a:bodyPr/>
          <a:lstStyle>
            <a:lvl1pPr>
              <a:buNone/>
              <a:defRPr b="0" i="0" baseline="0">
                <a:solidFill>
                  <a:srgbClr val="1A1D4A"/>
                </a:solidFill>
                <a:latin typeface="Poppins" panose="00000500000000000000" pitchFamily="2" charset="0"/>
              </a:defRPr>
            </a:lvl1pPr>
          </a:lstStyle>
          <a:p>
            <a:pPr lvl="0"/>
            <a:r>
              <a:rPr lang="pt-BR"/>
              <a:t>Seu Nome</a:t>
            </a:r>
          </a:p>
        </p:txBody>
      </p:sp>
    </p:spTree>
    <p:extLst>
      <p:ext uri="{BB962C8B-B14F-4D97-AF65-F5344CB8AC3E}">
        <p14:creationId xmlns:p14="http://schemas.microsoft.com/office/powerpoint/2010/main" val="22275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524B0E72-E74F-F548-5931-5D021EFACAB6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1A1D4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E09B8A-60DD-0866-BD49-D84E358BB732}"/>
              </a:ext>
            </a:extLst>
          </p:cNvPr>
          <p:cNvSpPr txBox="1"/>
          <p:nvPr userDrawn="1"/>
        </p:nvSpPr>
        <p:spPr>
          <a:xfrm>
            <a:off x="1006479" y="509592"/>
            <a:ext cx="4004891" cy="810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Professor (a):</a:t>
            </a:r>
            <a:r>
              <a:rPr lang="en-US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endParaRPr lang="en-US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endParaRPr lang="en-US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r>
              <a:rPr lang="en-US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Unidade Regional de Ensino:</a:t>
            </a:r>
            <a:endParaRPr lang="pt-BR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r>
              <a:rPr lang="pt-BR" sz="10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da Escola: </a:t>
            </a:r>
            <a:r>
              <a:rPr lang="en-US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100000"/>
              </a:lnSpc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 ao que tem aula atribuída:</a:t>
            </a:r>
            <a:endParaRPr lang="pt-BR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100000"/>
              </a:lnSpc>
            </a:pPr>
            <a:endParaRPr lang="pt-BR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Ano/série escolar:</a:t>
            </a:r>
            <a:r>
              <a:rPr lang="en-US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 </a:t>
            </a:r>
          </a:p>
          <a:p>
            <a:pPr fontAlgn="base">
              <a:lnSpc>
                <a:spcPct val="200000"/>
              </a:lnSpc>
            </a:pPr>
            <a:endParaRPr lang="en-US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Tema inscrito no Multiplica:</a:t>
            </a:r>
            <a:endParaRPr lang="pt-BR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r>
              <a:rPr lang="pt-BR" sz="10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fontAlgn="base">
              <a:lnSpc>
                <a:spcPct val="200000"/>
              </a:lnSpc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Número e Título da Pauta:</a:t>
            </a:r>
            <a:endParaRPr lang="pt-BR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endParaRPr lang="pt-BR" sz="10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lnSpc>
                <a:spcPct val="200000"/>
              </a:lnSpc>
            </a:pPr>
            <a:r>
              <a:rPr lang="pt-BR" sz="17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Conteúdo trabalhado:</a:t>
            </a:r>
          </a:p>
          <a:p>
            <a:pPr fontAlgn="base">
              <a:lnSpc>
                <a:spcPct val="200000"/>
              </a:lnSpc>
            </a:pPr>
            <a:endParaRPr lang="pt-BR" sz="17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endParaRPr lang="pt-BR" sz="17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700"/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DE2E4195-8528-A67D-CB1A-BF1DD3199A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5522" y="731034"/>
            <a:ext cx="8124093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B27643F0-EFEB-DE6F-BE94-669DECB71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78446" y="1599351"/>
            <a:ext cx="7491169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456D5130-46A8-9D57-BD08-E1DDC9982E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1428" y="2369334"/>
            <a:ext cx="8808187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DC93DA5B-2D5C-01D7-3849-8B115B02B8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138" y="3065667"/>
            <a:ext cx="7303477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930194E-9554-7EBD-7111-617B5B1214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8837" y="3825967"/>
            <a:ext cx="8560778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405AA039-1CAE-8878-4D8D-F1B2BE775C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75992" y="4694284"/>
            <a:ext cx="7593624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AF16D910-5BF0-491D-2A4F-62706F4692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7908" y="5462435"/>
            <a:ext cx="7801708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D0AAEE46-2AB6-C941-018E-059755B051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5522" y="6272818"/>
            <a:ext cx="7439999" cy="36333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</p:spTree>
    <p:extLst>
      <p:ext uri="{BB962C8B-B14F-4D97-AF65-F5344CB8AC3E}">
        <p14:creationId xmlns:p14="http://schemas.microsoft.com/office/powerpoint/2010/main" val="252154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entaçõ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27BC07A8-6591-AC93-B2D3-8896A34C66DA}"/>
              </a:ext>
            </a:extLst>
          </p:cNvPr>
          <p:cNvSpPr txBox="1"/>
          <p:nvPr userDrawn="1"/>
        </p:nvSpPr>
        <p:spPr>
          <a:xfrm>
            <a:off x="913932" y="712476"/>
            <a:ext cx="10902930" cy="112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pt-BR" sz="18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 todos os componentes, mínimo de 7 (sete) slides.</a:t>
            </a:r>
          </a:p>
          <a:p>
            <a:pPr fontAlgn="base">
              <a:lnSpc>
                <a:spcPct val="200000"/>
              </a:lnSpc>
            </a:pPr>
            <a:r>
              <a:rPr lang="pt-BR" sz="18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 os componentes que estão  </a:t>
            </a:r>
            <a:r>
              <a:rPr lang="en-US" sz="18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​</a:t>
            </a:r>
            <a:r>
              <a:rPr lang="pt-BR" sz="1800" b="1" noProof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sujeitos à legislação específica:</a:t>
            </a:r>
            <a:endParaRPr lang="pt-BR" sz="18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2F40132-430D-B6F6-8A2A-02D330CC1313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ORIENTAÇÃO DE ENTREGA DESTE DOCUMENTO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7D9519-BC4D-AE91-CB22-BE4E841169C7}"/>
              </a:ext>
            </a:extLst>
          </p:cNvPr>
          <p:cNvSpPr txBox="1"/>
          <p:nvPr userDrawn="1"/>
        </p:nvSpPr>
        <p:spPr>
          <a:xfrm>
            <a:off x="913932" y="1959659"/>
            <a:ext cx="5182068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Aluno Monitor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Conviva</a:t>
            </a:r>
          </a:p>
          <a:p>
            <a:pPr fontAlgn="base">
              <a:lnSpc>
                <a:spcPct val="200000"/>
              </a:lnSpc>
            </a:pPr>
            <a: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Educação Antirracista</a:t>
            </a:r>
          </a:p>
          <a:p>
            <a:pPr fontAlgn="base">
              <a:lnSpc>
                <a:spcPct val="200000"/>
              </a:lnSpc>
            </a:pPr>
            <a: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Educação Especial para Especializados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88403C-116E-638F-9522-F37A69AED1D9}"/>
              </a:ext>
            </a:extLst>
          </p:cNvPr>
          <p:cNvSpPr txBox="1"/>
          <p:nvPr userDrawn="1"/>
        </p:nvSpPr>
        <p:spPr>
          <a:xfrm>
            <a:off x="913932" y="4317210"/>
            <a:ext cx="10902930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pt-BR" sz="18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Utilizem as orientações das normativas específicas do seu componente. Podendo utilizar também Guia Priorizado, Escopo-Sequência e Documento Orientador.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AF5666-8FFD-271C-7ED3-F04A60DC56B1}"/>
              </a:ext>
            </a:extLst>
          </p:cNvPr>
          <p:cNvSpPr txBox="1"/>
          <p:nvPr userDrawn="1"/>
        </p:nvSpPr>
        <p:spPr>
          <a:xfrm>
            <a:off x="6365397" y="1959659"/>
            <a:ext cx="5182068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Educação Especial para Regentes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Orientação de Estudos</a:t>
            </a:r>
            <a:br>
              <a:rPr lang="pt-BR" sz="18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800" b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Professor Tutor</a:t>
            </a:r>
          </a:p>
        </p:txBody>
      </p:sp>
    </p:spTree>
    <p:extLst>
      <p:ext uri="{BB962C8B-B14F-4D97-AF65-F5344CB8AC3E}">
        <p14:creationId xmlns:p14="http://schemas.microsoft.com/office/powerpoint/2010/main" val="167066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88F591ED-CE9A-E754-89B1-716D04EC38C4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2890D63-D8CF-4A74-61F4-BAED0BCF80C2}"/>
              </a:ext>
            </a:extLst>
          </p:cNvPr>
          <p:cNvSpPr txBox="1"/>
          <p:nvPr userDrawn="1"/>
        </p:nvSpPr>
        <p:spPr>
          <a:xfrm>
            <a:off x="1179421" y="642135"/>
            <a:ext cx="107848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Descreva a prática que você aplicou que tenha sido inspirada em alguma formação do Multiplica 2026.2.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(Aborde a estratégia ou prática utilizada e justifique a sua escolha.)</a:t>
            </a:r>
            <a:endParaRPr lang="pt-BR" sz="1400" b="1">
              <a:solidFill>
                <a:srgbClr val="1A1D4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1F4121AC-8B9F-46FF-9F74-8437D39282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722" y="1559202"/>
            <a:ext cx="11104685" cy="4732283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/>
              <a:t>Clique para inserir texto</a:t>
            </a:r>
          </a:p>
        </p:txBody>
      </p:sp>
    </p:spTree>
    <p:extLst>
      <p:ext uri="{BB962C8B-B14F-4D97-AF65-F5344CB8AC3E}">
        <p14:creationId xmlns:p14="http://schemas.microsoft.com/office/powerpoint/2010/main" val="156134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4DA1E202-BDD0-03E2-81BB-0B4C72D08AE6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B3F10D-72D3-2847-9283-E4966990C7AD}"/>
              </a:ext>
            </a:extLst>
          </p:cNvPr>
          <p:cNvSpPr txBox="1"/>
          <p:nvPr userDrawn="1"/>
        </p:nvSpPr>
        <p:spPr>
          <a:xfrm>
            <a:off x="1179421" y="642135"/>
            <a:ext cx="107848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 prática desenvolveu quais conteúdos do escopo-sequência/ guia priorizado e/ou legislação normativa do seu componente</a:t>
            </a: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  <a:r>
              <a:rPr lang="pt-BR" sz="1800" dirty="0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dirty="0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Nesse campo é importante que seja destacado o(</a:t>
            </a:r>
            <a:r>
              <a:rPr lang="pt-BR" sz="1400" dirty="0" err="1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s</a:t>
            </a:r>
            <a:r>
              <a:rPr lang="pt-BR" sz="1400" dirty="0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) conteúdo(</a:t>
            </a:r>
            <a:r>
              <a:rPr lang="pt-BR" sz="1400" dirty="0" err="1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s</a:t>
            </a:r>
            <a:r>
              <a:rPr lang="pt-BR" sz="1400" dirty="0">
                <a:solidFill>
                  <a:srgbClr val="1A1D4A"/>
                </a:solidFill>
                <a:latin typeface="+mn-lt"/>
                <a:cs typeface="Poppins" panose="00000500000000000000" pitchFamily="2" charset="0"/>
              </a:rPr>
              <a:t>) e habilidades, que constam no escopo-sequência/ guia priorizado disponibilizados no Repositório do Centro de Mídias do Estado de São Paulo (CMSP). 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5C73E8A3-4D23-708D-6F60-7D0D85B7C6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722" y="1719353"/>
            <a:ext cx="11104685" cy="4572132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</p:spTree>
    <p:extLst>
      <p:ext uri="{BB962C8B-B14F-4D97-AF65-F5344CB8AC3E}">
        <p14:creationId xmlns:p14="http://schemas.microsoft.com/office/powerpoint/2010/main" val="388384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722" y="1466870"/>
            <a:ext cx="11104685" cy="4824616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Descreva os resultados apresentados de sua prática.</a:t>
            </a:r>
          </a:p>
        </p:txBody>
      </p:sp>
    </p:spTree>
    <p:extLst>
      <p:ext uri="{BB962C8B-B14F-4D97-AF65-F5344CB8AC3E}">
        <p14:creationId xmlns:p14="http://schemas.microsoft.com/office/powerpoint/2010/main" val="371674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722" y="1466870"/>
            <a:ext cx="11104685" cy="4824616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 que você aprendeu com essa experiência profissional (mediação didática)?</a:t>
            </a:r>
          </a:p>
        </p:txBody>
      </p:sp>
    </p:spTree>
    <p:extLst>
      <p:ext uri="{BB962C8B-B14F-4D97-AF65-F5344CB8AC3E}">
        <p14:creationId xmlns:p14="http://schemas.microsoft.com/office/powerpoint/2010/main" val="19143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040" y="1212792"/>
            <a:ext cx="4084236" cy="5078694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Anexe as evidências (imagens) da prática aplicada.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4D4EAE-00DA-16D8-A368-B59A626496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9175" y="1212850"/>
            <a:ext cx="6373813" cy="527526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79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040" y="1212792"/>
            <a:ext cx="4084236" cy="5078694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Anexe as evidências (imagens) da prática aplicada.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4D4EAE-00DA-16D8-A368-B59A626496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9175" y="1212850"/>
            <a:ext cx="6373813" cy="527526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22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040" y="1212792"/>
            <a:ext cx="4084236" cy="5078694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Anexe as evidências (imagens) da prática aplicada.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4D4EAE-00DA-16D8-A368-B59A626496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9175" y="1212850"/>
            <a:ext cx="6373813" cy="527526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27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040" y="1212792"/>
            <a:ext cx="4084236" cy="5078694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Anexe as evidências (imagens) da prática aplicada.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4D4EAE-00DA-16D8-A368-B59A626496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9175" y="1212850"/>
            <a:ext cx="6373813" cy="527526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870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040" y="1212792"/>
            <a:ext cx="4084236" cy="5078694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Anexe as evidências (imagens) da prática aplicada.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4D4EAE-00DA-16D8-A368-B59A626496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9175" y="1212850"/>
            <a:ext cx="6373813" cy="527526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09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esult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97A83-36F4-A63E-646F-52E7272DAC69}"/>
              </a:ext>
            </a:extLst>
          </p:cNvPr>
          <p:cNvSpPr txBox="1"/>
          <p:nvPr userDrawn="1"/>
        </p:nvSpPr>
        <p:spPr>
          <a:xfrm>
            <a:off x="647273" y="4608"/>
            <a:ext cx="98331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BR" sz="32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SOCIALIZAÇÃO DAS PRÁTICAS PEDAGÓGICAS </a:t>
            </a:r>
          </a:p>
        </p:txBody>
      </p:sp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A2BAB6CD-6F30-A0C9-F574-D9597C8C35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040" y="1212792"/>
            <a:ext cx="4084236" cy="5078694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pt-BR" dirty="0"/>
              <a:t>Clique para inserir texto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3401DF-FF40-645E-C862-2089D9DB09F7}"/>
              </a:ext>
            </a:extLst>
          </p:cNvPr>
          <p:cNvSpPr txBox="1"/>
          <p:nvPr userDrawn="1"/>
        </p:nvSpPr>
        <p:spPr>
          <a:xfrm>
            <a:off x="1093543" y="843460"/>
            <a:ext cx="1078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dirty="0">
                <a:solidFill>
                  <a:srgbClr val="1A1D4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Anexe as evidências (imagens) da prática aplicada.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4D4EAE-00DA-16D8-A368-B59A626496C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9175" y="1212850"/>
            <a:ext cx="6373813" cy="527526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611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Arredondado em um Canto Diagonal 6">
            <a:extLst>
              <a:ext uri="{FF2B5EF4-FFF2-40B4-BE49-F238E27FC236}">
                <a16:creationId xmlns:a16="http://schemas.microsoft.com/office/drawing/2014/main" id="{AEF9CC56-8A03-E4B4-2D4E-FAF8FA539129}"/>
              </a:ext>
            </a:extLst>
          </p:cNvPr>
          <p:cNvSpPr/>
          <p:nvPr userDrawn="1"/>
        </p:nvSpPr>
        <p:spPr>
          <a:xfrm>
            <a:off x="2371464" y="1766503"/>
            <a:ext cx="7463246" cy="2865121"/>
          </a:xfrm>
          <a:prstGeom prst="round2DiagRect">
            <a:avLst/>
          </a:prstGeom>
          <a:solidFill>
            <a:srgbClr val="E3EAF0"/>
          </a:solidFill>
          <a:ln>
            <a:solidFill>
              <a:srgbClr val="789FCE"/>
            </a:solidFill>
          </a:ln>
          <a:effectLst>
            <a:outerShdw blurRad="1063197" dist="50800" dir="4920000" sx="124605" sy="124605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B643D9-9A1B-CF3B-5981-A8D8463A3909}"/>
              </a:ext>
            </a:extLst>
          </p:cNvPr>
          <p:cNvSpPr txBox="1"/>
          <p:nvPr userDrawn="1"/>
        </p:nvSpPr>
        <p:spPr>
          <a:xfrm>
            <a:off x="1844263" y="2093180"/>
            <a:ext cx="8767795" cy="239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pt-BR" sz="44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MUITO OBRIGADO!</a:t>
            </a:r>
          </a:p>
          <a:p>
            <a:pPr marL="0" lvl="0" indent="0" algn="ctr" defTabSz="914400" rtl="0" eaLnBrk="1" latinLnBrk="0" hangingPunct="1">
              <a:lnSpc>
                <a:spcPct val="115000"/>
              </a:lnSpc>
              <a:buFont typeface="Arial" panose="020B0604020202020204" pitchFamily="34" charset="0"/>
              <a:buNone/>
            </a:pPr>
            <a:endParaRPr lang="pt-BR" sz="4400" b="0" i="0" kern="1200">
              <a:solidFill>
                <a:srgbClr val="00206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lvl="0" indent="0" algn="ctr" defTabSz="914400" rtl="0" eaLnBrk="1" latinLnBrk="0" hangingPunct="1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pt-BR" sz="4400" b="0" i="0" kern="1200">
                <a:solidFill>
                  <a:srgbClr val="00206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PROGRAMA MULTIPLICA</a:t>
            </a:r>
            <a:endParaRPr lang="pt-BR" sz="4400" b="0" kern="1200">
              <a:solidFill>
                <a:srgbClr val="00206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1AB4C09-6D8B-8F59-61FC-F83B3DAEC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79873" y="3839989"/>
            <a:ext cx="6362980" cy="357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94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 /><Relationship Id="rId13" Type="http://schemas.openxmlformats.org/officeDocument/2006/relationships/theme" Target="../theme/theme2.xml" /><Relationship Id="rId3" Type="http://schemas.openxmlformats.org/officeDocument/2006/relationships/slideLayout" Target="../slideLayouts/slideLayout4.xml" /><Relationship Id="rId7" Type="http://schemas.openxmlformats.org/officeDocument/2006/relationships/slideLayout" Target="../slideLayouts/slideLayout8.xml" /><Relationship Id="rId12" Type="http://schemas.openxmlformats.org/officeDocument/2006/relationships/slideLayout" Target="../slideLayouts/slideLayout13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6" Type="http://schemas.openxmlformats.org/officeDocument/2006/relationships/slideLayout" Target="../slideLayouts/slideLayout7.xml" /><Relationship Id="rId11" Type="http://schemas.openxmlformats.org/officeDocument/2006/relationships/slideLayout" Target="../slideLayouts/slideLayout12.xml" /><Relationship Id="rId5" Type="http://schemas.openxmlformats.org/officeDocument/2006/relationships/slideLayout" Target="../slideLayouts/slideLayout6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 /><Relationship Id="rId1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B13D7B9-18C4-4D9A-0ADA-051AA7A95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EEF751-B663-4575-B8B8-22A17FEBE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FA324E-C652-B1DC-5B9B-5A67C3BC8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21B91-6F01-49A1-AD66-EFF7FF066643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4201E-B93D-63D3-7A91-30C640FAA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43E42B-EC01-AB61-1152-178E2EE1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61CD4-0009-4221-94CD-D2F2581E7B3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294015C-3BB1-DA4C-186D-E1ECB966A7EF}"/>
              </a:ext>
            </a:extLst>
          </p:cNvPr>
          <p:cNvSpPr/>
          <p:nvPr userDrawn="1"/>
        </p:nvSpPr>
        <p:spPr>
          <a:xfrm>
            <a:off x="0" y="0"/>
            <a:ext cx="12607557" cy="7050505"/>
          </a:xfrm>
          <a:prstGeom prst="rect">
            <a:avLst/>
          </a:prstGeom>
          <a:solidFill>
            <a:srgbClr val="E3EA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20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10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Arredondado em um Canto Diagonal 6">
            <a:extLst>
              <a:ext uri="{FF2B5EF4-FFF2-40B4-BE49-F238E27FC236}">
                <a16:creationId xmlns:a16="http://schemas.microsoft.com/office/drawing/2014/main" id="{3C3249A2-27C8-5698-AAB0-CBB968E4CE9C}"/>
              </a:ext>
            </a:extLst>
          </p:cNvPr>
          <p:cNvSpPr/>
          <p:nvPr userDrawn="1"/>
        </p:nvSpPr>
        <p:spPr>
          <a:xfrm>
            <a:off x="647273" y="621809"/>
            <a:ext cx="11317012" cy="6040614"/>
          </a:xfrm>
          <a:prstGeom prst="round2DiagRect">
            <a:avLst/>
          </a:prstGeom>
          <a:solidFill>
            <a:srgbClr val="E3EAF0"/>
          </a:solidFill>
          <a:ln>
            <a:solidFill>
              <a:srgbClr val="789FCE"/>
            </a:solidFill>
          </a:ln>
          <a:effectLst>
            <a:outerShdw blurRad="1063197" dist="50800" dir="4920000" sx="124605" sy="124605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5">
            <a:extLst>
              <a:ext uri="{FF2B5EF4-FFF2-40B4-BE49-F238E27FC236}">
                <a16:creationId xmlns:a16="http://schemas.microsoft.com/office/drawing/2014/main" id="{113BC85F-1F48-4953-8863-FBE4E6328E3F}"/>
              </a:ext>
            </a:extLst>
          </p:cNvPr>
          <p:cNvCxnSpPr>
            <a:cxnSpLocks/>
          </p:cNvCxnSpPr>
          <p:nvPr userDrawn="1"/>
        </p:nvCxnSpPr>
        <p:spPr>
          <a:xfrm>
            <a:off x="0" y="566515"/>
            <a:ext cx="3183038" cy="0"/>
          </a:xfrm>
          <a:prstGeom prst="line">
            <a:avLst/>
          </a:prstGeom>
          <a:ln w="28575">
            <a:solidFill>
              <a:srgbClr val="ED586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2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05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 /><Relationship Id="rIdEvid1" Type="http://schemas.openxmlformats.org/officeDocument/2006/relationships/image" Target="../media/evid_slide8.png" 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 /><Relationship Id="rIdEvid1" Type="http://schemas.openxmlformats.org/officeDocument/2006/relationships/image" Target="../media/evid_slide9.png" 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 /><Relationship Id="rIdEvid1" Type="http://schemas.openxmlformats.org/officeDocument/2006/relationships/image" Target="../media/evid_slide10.png" 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 /><Relationship Id="rIdEvid1" Type="http://schemas.openxmlformats.org/officeDocument/2006/relationships/image" Target="../media/evid_slide11.png" 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 /><Relationship Id="rIdEvid1" Type="http://schemas.openxmlformats.org/officeDocument/2006/relationships/image" Target="../media/evid_slide12.png" 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 /><Relationship Id="rIdEvid1" Type="http://schemas.openxmlformats.org/officeDocument/2006/relationships/image" Target="../media/evid_slide13.png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986A8B41-FC1B-584E-EDA7-724FE98F61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</a:pPr>
            <a:r>
              <a:rPr lang="pt-BR" dirty="0"/>
              <a:t>Língua Inglesa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8EBD83A-ADE2-BC24-6C42-B2727B79C2C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</a:pPr>
            <a:r>
              <a:rPr lang="pt-BR" dirty="0"/>
              <a:t>CEL Laerte Ramos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8FF85E6-E0AC-6613-D133-56CD4D6E09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spcAft>
                <a:spcPts val="0"/>
              </a:spcAft>
            </a:pPr>
            <a:r>
              <a:rPr lang="pt-BR" dirty="0"/>
              <a:t>Diego Horta</a:t>
            </a:r>
          </a:p>
        </p:txBody>
      </p:sp>
    </p:spTree>
    <p:extLst>
      <p:ext uri="{BB962C8B-B14F-4D97-AF65-F5344CB8AC3E}">
        <p14:creationId xmlns:p14="http://schemas.microsoft.com/office/powerpoint/2010/main" val="35652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E92E8D-5EBB-AC96-7E35-9AF8A9AB74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Diego Horta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E604A3-2BFB-958B-4ABC-AF278AD2E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A preencher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90DCEC-7949-963D-C54F-D5D7DE0143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Centro de Estudos de Línguas – CEL Laerte Ramos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3570855-5CD0-717C-9664-ADE444D72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Língua Inglesa (CEL)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90ECB4B-2E3C-AF19-C9F3-C13BE4CD8B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Turmas de Inglês do CEL – nível básico (A1)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0AA3A90-B9E3-23C1-0589-E3DE90EF8C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Gamificação no ensino de Língua Inglesa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CCF5D3F-0E2A-A6BC-3835-6F13BFCAA0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A preencher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BD82B09D-3C87-DAED-A6F6-886C98E82D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</a:pPr>
            <a:r>
              <a:rPr lang="pt-BR" dirty="0"/>
              <a:t>Present Continuous em situações reais (parque, clima, shopping, restaurante)</a:t>
            </a:r>
          </a:p>
        </p:txBody>
      </p:sp>
    </p:spTree>
    <p:extLst>
      <p:ext uri="{BB962C8B-B14F-4D97-AF65-F5344CB8AC3E}">
        <p14:creationId xmlns:p14="http://schemas.microsoft.com/office/powerpoint/2010/main" val="80281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F787FD9-D327-C358-817B-23986BF2A2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Proposta: “A Day Out” – aulas gamificadas de Present Continuous</a:t>
            </a:r>
            <a:r>
              <a:rPr lang="pt-BR" dirty="0"/>
              <a:t xml:space="preserve"> com o jogo de navegador Neon Day Out, criado para a turma.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INPUT:</a:t>
            </a:r>
            <a:r>
              <a:rPr lang="pt-BR" dirty="0"/>
              <a:t xml:space="preserve"> apresentação da fórmula Subject + am/is/are + verb-ing com o código de cores dos blocos (S • AUX • V-ing • O • ADV • NEG), da metodologia Chunking.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INTAKE:</a:t>
            </a:r>
            <a:r>
              <a:rPr lang="pt-BR" dirty="0"/>
              <a:t xml:space="preserve"> em duplas, os alunos jogam 26 missões no dia da Maya (parque, clima, shopping, restaurante): escolher am/is/are, montar frases com blocos, responder diálogos e praticar o -ing.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Mecânicas de jogo:</a:t>
            </a:r>
            <a:r>
              <a:rPr lang="pt-BR" dirty="0"/>
              <a:t xml:space="preserve"> pontos, combo por acertos seguidos, 3 vidas, feedback imediato com tradução e ranking final (S, A, B, C).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OUTPUT:</a:t>
            </a:r>
            <a:r>
              <a:rPr lang="pt-BR" dirty="0"/>
              <a:t xml:space="preserve"> atividade “My day out” (frases próprias para cada cenário) e Speaking Challenge em duplas.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Justificativa:</a:t>
            </a:r>
            <a:r>
              <a:rPr lang="pt-BR" dirty="0"/>
              <a:t xml:space="preserve"> o jogo amplia o tempo de prática e o engajamento; o erro vira dica, não punição; a estética anime anos 80 e a música lo-fi aproximam o conteúdo do repertório dos jovens.</a:t>
            </a:r>
          </a:p>
        </p:txBody>
      </p:sp>
    </p:spTree>
    <p:extLst>
      <p:ext uri="{BB962C8B-B14F-4D97-AF65-F5344CB8AC3E}">
        <p14:creationId xmlns:p14="http://schemas.microsoft.com/office/powerpoint/2010/main" val="2285719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376FBB6-A14D-AA49-BBFA-D34B6EA390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Present Continuous:</a:t>
            </a:r>
            <a:r>
              <a:rPr lang="pt-BR" dirty="0"/>
              <a:t xml:space="preserve"> formas afirmativa, negativa e interrogativa, e respostas curtas (Yes, I am. / No, it isn’t.).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Spelling do -ing:</a:t>
            </a:r>
            <a:r>
              <a:rPr lang="pt-BR" dirty="0"/>
              <a:t xml:space="preserve"> regra geral (eat → eating), verbos terminados em -e (choose → choosing), consoante dobrada (run → running) e lie → lying.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Vocabulário e chunks do cotidiano:</a:t>
            </a:r>
            <a:r>
              <a:rPr lang="pt-BR" dirty="0"/>
              <a:t xml:space="preserve"> parque, clima, compras e restaurante (I’m looking for…, Can I help you?, We’re having dinner).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Habilidade comunicativa:</a:t>
            </a:r>
            <a:r>
              <a:rPr lang="pt-BR" dirty="0"/>
              <a:t xml:space="preserve"> descrever ações em andamento e perguntar e responder sobre o que está acontecendo agora (nível A1 do Quadro Europeu Comum de Referência).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Alinhamento curricular:</a:t>
            </a:r>
            <a:r>
              <a:rPr lang="pt-BR" dirty="0"/>
              <a:t xml:space="preserve"> conteúdo previsto para o nível básico de Inglês do CEL; inserir aqui a referência da habilidade no documento orientador dos CELs.</a:t>
            </a:r>
          </a:p>
        </p:txBody>
      </p:sp>
    </p:spTree>
    <p:extLst>
      <p:ext uri="{BB962C8B-B14F-4D97-AF65-F5344CB8AC3E}">
        <p14:creationId xmlns:p14="http://schemas.microsoft.com/office/powerpoint/2010/main" val="167904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E93204F-CF8A-DA0D-03D2-4707DFF652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Resultados esperados e como acompanhá-los: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Participação:</a:t>
            </a:r>
            <a:r>
              <a:rPr lang="pt-BR" dirty="0"/>
              <a:t xml:space="preserve"> todos os alunos respondem nas duplas, inclusive os mais tímidos, porque o jogo pede uma resposta a cada missão.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Acertos:</a:t>
            </a:r>
            <a:r>
              <a:rPr lang="pt-BR" dirty="0"/>
              <a:t xml:space="preserve"> pontuação, número de erros e ranking final de cada dupla, comparados com a “Checagem rápida” da aula.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Produção escrita:</a:t>
            </a:r>
            <a:r>
              <a:rPr lang="pt-BR" dirty="0"/>
              <a:t xml:space="preserve"> pelo menos 8 frases por aluno na atividade “My day out” (2 por cenário).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Oralidade:</a:t>
            </a:r>
            <a:r>
              <a:rPr lang="pt-BR" dirty="0"/>
              <a:t xml:space="preserve"> Speaking Challenge em duplas, avaliado com rubrica simples (estrutura, pronúncia e fluência).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Revisão dirigida:</a:t>
            </a:r>
            <a:r>
              <a:rPr lang="pt-BR" dirty="0"/>
              <a:t xml:space="preserve"> a tela final lista as frases que cada dupla errou, e o professor retoma esses blocos com a turma.</a:t>
            </a:r>
          </a:p>
        </p:txBody>
      </p:sp>
    </p:spTree>
    <p:extLst>
      <p:ext uri="{BB962C8B-B14F-4D97-AF65-F5344CB8AC3E}">
        <p14:creationId xmlns:p14="http://schemas.microsoft.com/office/powerpoint/2010/main" val="385989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3C03FD-4BEA-700E-BA2A-C267887489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O professor como mediador:</a:t>
            </a:r>
            <a:r>
              <a:rPr lang="pt-BR" dirty="0"/>
              <a:t xml:space="preserve"> circula entre as duplas e retoma os blocos no quadro quando aparecem erros recorrentes.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Feedback imediato:</a:t>
            </a:r>
            <a:r>
              <a:rPr lang="pt-BR" dirty="0"/>
              <a:t xml:space="preserve"> o jogo corrige na hora e mostra a regra, o que libera o professor para atender quem precisa.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Estrutura visível:</a:t>
            </a:r>
            <a:r>
              <a:rPr lang="pt-BR" dirty="0"/>
              <a:t xml:space="preserve"> ver a frase em blocos coloridos ajuda o aluno a entender a estrutura sem decorar regras soltas.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Repertório dos alunos:</a:t>
            </a:r>
            <a:r>
              <a:rPr lang="pt-BR" dirty="0"/>
              <a:t xml:space="preserve"> games, anime e música tornam a aula mais significativa e motivam a participação.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pt-BR" dirty="0" b="1"/>
              <a:t>Próximos passos:</a:t>
            </a:r>
            <a:r>
              <a:rPr lang="pt-BR" dirty="0"/>
              <a:t xml:space="preserve"> usar o mesmo modelo de jogo para outros conteúdos (Simple Present, Past Simple) e para outras turmas do CEL.</a:t>
            </a:r>
          </a:p>
        </p:txBody>
      </p:sp>
    </p:spTree>
    <p:extLst>
      <p:ext uri="{BB962C8B-B14F-4D97-AF65-F5344CB8AC3E}">
        <p14:creationId xmlns:p14="http://schemas.microsoft.com/office/powerpoint/2010/main" val="206728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1745-CD8A-B252-3FE0-49D30E66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B4F3884-4A53-C95C-C4D9-076B9BDF30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Tela inicial do jogo Neon Day Out II.</a:t>
            </a:r>
          </a:p>
          <a:p>
            <a:pPr marL="0" indent="0">
              <a:spcAft>
                <a:spcPts val="600"/>
              </a:spcAft>
            </a:pPr>
            <a:r>
              <a:rPr lang="pt-BR" dirty="0"/>
              <a:t>A fórmula em blocos coloridos e as quatro mecânicas aparecem antes de começar.</a:t>
            </a:r>
          </a:p>
        </p:txBody>
      </p:sp>
      <p:pic>
        <p:nvPicPr>
          <p:cNvPr id="4" name="Imagem 4" descr="Tela inicial do jogo Neon Day Out II. A fórmula em blocos coloridos e as quatro mecânicas aparecem antes de começar."/>
          <p:cNvPicPr>
            <a:picLocks noGrp="1" noChangeAspect="1"/>
          </p:cNvPicPr>
          <p:nvPr>
            <p:ph type="pic" sz="quarter" idx="17"/>
          </p:nvPr>
        </p:nvPicPr>
        <p:blipFill>
          <a:blip r:embed="rIdEvid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55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9FBC0-0B6C-781D-8AC8-3F7A58D2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44B79CD-B012-043D-668A-B77F48B4BE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Missão de escolha (am/is/are).</a:t>
            </a:r>
          </a:p>
          <a:p>
            <a:pPr marL="0" indent="0">
              <a:spcAft>
                <a:spcPts val="600"/>
              </a:spcAft>
            </a:pPr>
            <a:r>
              <a:rPr lang="pt-BR" dirty="0"/>
              <a:t>Feedback imediato: a frase em blocos, a tradução e a pontuação.</a:t>
            </a:r>
          </a:p>
        </p:txBody>
      </p:sp>
      <p:pic>
        <p:nvPicPr>
          <p:cNvPr id="4" name="Imagem 4" descr="Missão de escolha (am/is/are). Feedback imediato: a frase em blocos, a tradução e a pontuação."/>
          <p:cNvPicPr>
            <a:picLocks noGrp="1" noChangeAspect="1"/>
          </p:cNvPicPr>
          <p:nvPr>
            <p:ph type="pic" sz="quarter" idx="17"/>
          </p:nvPr>
        </p:nvPicPr>
        <p:blipFill>
          <a:blip r:embed="rIdEvid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2577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8009-C9CE-B98D-8B74-7E969DC0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F6F4076-F447-7758-4B06-8D0D30A55D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Montagem de frase com blocos.</a:t>
            </a:r>
          </a:p>
          <a:p>
            <a:pPr marL="0" indent="0">
              <a:spcAft>
                <a:spcPts val="600"/>
              </a:spcAft>
            </a:pPr>
            <a:r>
              <a:rPr lang="pt-BR" dirty="0"/>
              <a:t>O aluno toca nos chunks na ordem Subject + am/is/are + verb-ing + complemento.</a:t>
            </a:r>
          </a:p>
        </p:txBody>
      </p:sp>
      <p:pic>
        <p:nvPicPr>
          <p:cNvPr id="4" name="Imagem 4" descr="Montagem de frase com blocos. O aluno toca nos chunks na ordem Subject + am/is/are + verb-ing + complemento."/>
          <p:cNvPicPr>
            <a:picLocks noGrp="1" noChangeAspect="1"/>
          </p:cNvPicPr>
          <p:nvPr>
            <p:ph type="pic" sz="quarter" idx="17"/>
          </p:nvPr>
        </p:nvPicPr>
        <p:blipFill>
          <a:blip r:embed="rIdEvid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257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A416-A93B-E94B-9BEA-5D6FD73F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7DE5D01-B70C-A819-4BC7-84C2701F8C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Diálogo no shopping.</a:t>
            </a:r>
          </a:p>
          <a:p>
            <a:pPr marL="0" indent="0">
              <a:spcAft>
                <a:spcPts val="600"/>
              </a:spcAft>
            </a:pPr>
            <a:r>
              <a:rPr lang="pt-BR" dirty="0"/>
              <a:t>Resposta com o chunk útil “I’m looking for + objeto”.</a:t>
            </a:r>
          </a:p>
        </p:txBody>
      </p:sp>
      <p:pic>
        <p:nvPicPr>
          <p:cNvPr id="4" name="Imagem 4" descr="Diálogo no shopping. Resposta com o chunk útil “I’m looking for + objeto”."/>
          <p:cNvPicPr>
            <a:picLocks noGrp="1" noChangeAspect="1"/>
          </p:cNvPicPr>
          <p:nvPr>
            <p:ph type="pic" sz="quarter" idx="17"/>
          </p:nvPr>
        </p:nvPicPr>
        <p:blipFill>
          <a:blip r:embed="rIdEvid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9227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B040-DA19-EDE7-B788-8199F42E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C2A58306-E918-8C66-A4B1-0803FD1432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O erro como parte da aprendizagem.</a:t>
            </a:r>
          </a:p>
          <a:p>
            <a:pPr marL="0" indent="0">
              <a:spcAft>
                <a:spcPts val="600"/>
              </a:spcAft>
            </a:pPr>
            <a:r>
              <a:rPr lang="pt-BR" dirty="0"/>
              <a:t>O jogo mostra a dica (Are you…? → No, I’m not.) e o aluno tenta de novo.</a:t>
            </a:r>
          </a:p>
        </p:txBody>
      </p:sp>
      <p:pic>
        <p:nvPicPr>
          <p:cNvPr id="4" name="Imagem 4" descr="O erro como parte da aprendizagem. O jogo mostra a dica (Are you…? → No, I’m not.) e o aluno tenta de novo."/>
          <p:cNvPicPr>
            <a:picLocks noGrp="1" noChangeAspect="1"/>
          </p:cNvPicPr>
          <p:nvPr>
            <p:ph type="pic" sz="quarter" idx="17"/>
          </p:nvPr>
        </p:nvPicPr>
        <p:blipFill>
          <a:blip r:embed="rIdEvid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5093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D4C1-ED74-D217-0CA9-DFA04713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568452E-AB83-E6F7-91A1-D6B6316DF1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900"/>
              </a:spcAft>
            </a:pPr>
            <a:r>
              <a:rPr lang="pt-BR" dirty="0" b="1"/>
              <a:t>Tela final da partida.</a:t>
            </a:r>
          </a:p>
          <a:p>
            <a:pPr marL="0" indent="0">
              <a:spcAft>
                <a:spcPts val="600"/>
              </a:spcAft>
            </a:pPr>
            <a:r>
              <a:rPr lang="pt-BR" dirty="0"/>
              <a:t>Ranking, narrativa “One day, one story”, Speaking Challenge e revisão das frases erradas.</a:t>
            </a:r>
          </a:p>
        </p:txBody>
      </p:sp>
      <p:pic>
        <p:nvPicPr>
          <p:cNvPr id="4" name="Imagem 4" descr="Tela final da partida. Ranking, narrativa “One day, one story”, Speaking Challenge e revisão das frases erradas."/>
          <p:cNvPicPr>
            <a:picLocks noGrp="1" noChangeAspect="1"/>
          </p:cNvPicPr>
          <p:nvPr>
            <p:ph type="pic" sz="quarter" idx="17"/>
          </p:nvPr>
        </p:nvPicPr>
        <p:blipFill>
          <a:blip r:embed="rIdEvid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126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94795"/>
      </p:ext>
    </p:extLst>
  </p:cSld>
  <p:clrMapOvr>
    <a:masterClrMapping/>
  </p:clrMapOvr>
</p:sld>
</file>

<file path=ppt/theme/theme1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31A395AD3D2E4D9E3B356A8D21A537" ma:contentTypeVersion="10" ma:contentTypeDescription="Crie um novo documento." ma:contentTypeScope="" ma:versionID="7b923d0b06040bf14bb78c21685bc41e">
  <xsd:schema xmlns:xsd="http://www.w3.org/2001/XMLSchema" xmlns:xs="http://www.w3.org/2001/XMLSchema" xmlns:p="http://schemas.microsoft.com/office/2006/metadata/properties" xmlns:ns2="9a590a55-ca28-4703-99da-1d0d7ba9cd24" xmlns:ns3="91814b14-a322-446f-95a0-4556ccab96fd" targetNamespace="http://schemas.microsoft.com/office/2006/metadata/properties" ma:root="true" ma:fieldsID="8760e2002f8b590a6f4c80ae298a9920" ns2:_="" ns3:_="">
    <xsd:import namespace="9a590a55-ca28-4703-99da-1d0d7ba9cd24"/>
    <xsd:import namespace="91814b14-a322-446f-95a0-4556ccab96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90a55-ca28-4703-99da-1d0d7ba9cd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6cacc59b-30bb-4402-ae5a-237a54327a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14b14-a322-446f-95a0-4556ccab96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79befa1-a24f-43b1-8ce6-2904bde339ba}" ma:internalName="TaxCatchAll" ma:showField="CatchAllData" ma:web="91814b14-a322-446f-95a0-4556ccab96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590a55-ca28-4703-99da-1d0d7ba9cd24">
      <Terms xmlns="http://schemas.microsoft.com/office/infopath/2007/PartnerControls"/>
    </lcf76f155ced4ddcb4097134ff3c332f>
    <TaxCatchAll xmlns="91814b14-a322-446f-95a0-4556ccab96fd" xsi:nil="true"/>
  </documentManagement>
</p:properties>
</file>

<file path=customXml/itemProps1.xml><?xml version="1.0" encoding="utf-8"?>
<ds:datastoreItem xmlns:ds="http://schemas.openxmlformats.org/officeDocument/2006/customXml" ds:itemID="{0AE45CCF-A747-4D88-9AE6-54765E5A7A2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a590a55-ca28-4703-99da-1d0d7ba9cd24"/>
    <ds:schemaRef ds:uri="91814b14-a322-446f-95a0-4556ccab96fd"/>
  </ds:schemaRefs>
</ds:datastoreItem>
</file>

<file path=customXml/itemProps2.xml><?xml version="1.0" encoding="utf-8"?>
<ds:datastoreItem xmlns:ds="http://schemas.openxmlformats.org/officeDocument/2006/customXml" ds:itemID="{63B18FCA-6E75-43F9-AB6A-F793F7520D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0ED08A-250F-4FD0-8691-D09948513B28}">
  <ds:schemaRefs>
    <ds:schemaRef ds:uri="http://schemas.microsoft.com/office/2006/metadata/properties"/>
    <ds:schemaRef ds:uri="http://www.w3.org/2000/xmlns/"/>
    <ds:schemaRef ds:uri="9a590a55-ca28-4703-99da-1d0d7ba9cd24"/>
    <ds:schemaRef ds:uri="http://schemas.microsoft.com/office/infopath/2007/PartnerControls"/>
    <ds:schemaRef ds:uri="91814b14-a322-446f-95a0-4556ccab96f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1_Personalizar design</vt:lpstr>
      <vt:lpstr>Tema do Office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Vieira Orfo</dc:creator>
  <cp:lastModifiedBy>Diego Horta</cp:lastModifiedBy>
  <cp:revision>3</cp:revision>
  <dcterms:created xsi:type="dcterms:W3CDTF">2026-09-09T17:44:42Z</dcterms:created>
  <dcterms:modified xsi:type="dcterms:W3CDTF">2026-10-08T15:51:14Z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0x0101006D31A395AD3D2E4D9E3B356A8D21A537</vt:lpwstr>
  </property>
  <property fmtid="{D5CDD505-2E9C-101B-9397-08002B2CF9AE}" pid="3" name="MediaServiceImageTags">
    <vt:lpwstr/>
  </property>
</Properties>
</file>